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Hi everyone. I'm [your name], and I'm building this solo.
My project is called FixLens. The idea fits in three words: point, ask, fix.
You point your phone camera at something that's broken, like a washing machine or a car's engine, and you ask your question out loud. A small assistant called Fixy answers you by voice. It also puts a marker on the exact part you need to touch.
And the important part: all of this runs on the phone itself. No internet, no cloud.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Let me start with a situation most of us have been in.
Your washing machine stops, and all it shows is "E4". That's it. Just a code and a blinking light.
So what do you do? The manual is long gone. You call the helpline and wait in a queue. Or you book a technician, which costs money and often takes a few days.
And here's the funny thing: these machines usually break in places with bad signal. Utility rooms, basements, terraces, parking lots. So even searching online or using a cloud AI app is hard right there.
But the real insight is this: most of these fixes are actually simple. A clogged filter. A loose cover. Low fluid. People can do it themselves. They just don't know where to look.
That's the gap FixLens fills.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 30 sec]
So meet Fixy. Think of Fixy as a patient friend who knows repairs and is standing right next to you.
Here's what Fixy does. Five things.
One, it sees. It looks through the camera and reads the error code or looks at the engine.
Two, it listens. You just talk to it. Your hands stay free, because they're usually busy or dirty.
Three, and this is the key part, it points. It draws a marker on the exact part, like this drain filter here. And when you move the phone, the marker stays stuck to that part.
Four, it talks you through the fix one step at a time. You say "done", and it moves to the next step.
And five, it knows its limits. If it doesn't have verified guidance, it doesn't guess. It says so. And for anything dangerous, it tells you to call a technician.
All of this works in airplane mode.
Now, a quick word on what's new here. Offline, on-device AI is expected at this hackathon now. What makes FixLens different is the full loop: you have a live voice conversation, the AI finds the exact part in the camera view, and the marker follows it in real time.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Now, how does it work? There's one big technical problem to solve.
The AI model that understands images is smart, but slow. It takes one to three seconds to answer. But the camera gives us thirty frames every second. If the marker only updated every few seconds, it would jump around and feel broken.
So I split the app into two speeds. A slow brain and fast eyes.
The slow brain is the dark boxes. When you ask a question, your voice is turned into text right on the phone. The orchestrator finds the right repair entry in our knowledge base. Then it grabs the current camera frame and sends everything to the vision model, Qwen3-VL, running on the phone. The model answers in two parts. First, a box around the part. Then one or two short sentences that Fixy speaks out loud.
The fast eyes are the orange boxes. The box from the brain goes to a tracker. The tracker follows that part in every single frame, thirty times a second, using optical flow from OpenCV.
There's one clever trick here. By the time the brain answers, the phone has already moved a bit. So the app keeps the last three seconds of frames. The tracker starts from the old frame the brain looked at and quickly catches up to the live view. So the marker lands in the right place even though the answer was late.
And if the tracker ever loses the part, it quietly asks the brain again, "where is it now?", and locks back on.
The brain runs only when you ask something. Never on every frame. That keeps the phone fast and cool.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 20 sec]
Now, when you're giving repair advice, being trustworthy matters more than being clever. So I built trust in from the start.
First, offline and private. The app doesn't even have internet permission. Your camera and your voice never leave the phone. You can check that in the app's permissions yourself.
Second, verified steps only. The AI is never allowed to make up repair steps. Every step comes word for word from a checked knowledge base. Error codes are looked up exactly, so "E4" never gets confused with "E5".
Third, safety first. Before any repair step, Fixy gives you the safety steps, like "unplug the machine" or "turn the engine off and let it cool". You have to say "done" before it moves on.
And fourth, it knows when to stop. If you ask about something risky, like car wiring, Fixy won't guess. It tells you to call a technician.
On speed, these are my targets on the iQOO 15: about two to three seconds from your question to Fixy's first word, thirty frames per second for the marker, and zero bytes sent to any server. Everything is built on open-source models and tools.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For the final demo, I'll show two things.
First, a real car in the parking lot. Fixy will help check the oil, coolant, washer fluid and battery. Then I'll ask it about wiring on purpose, and you'll see it refuse and suggest a mechanic. That's by design.
Second, a washing-machine control panel. We read an error code, and Fixy guides us step by step to the exact part.
After this hackathon, the plan is Telugu and Hindi, a "Hey Fixy" wake word, more appliances like fridges, water purifiers and inverters, and a version for junior field technicians who can't upload videos from customers' homes.
So that's FixLens. Point, ask, fix. No internet, no manual, no waiting.
Thank you. I'm happy to take questions.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C2E"/>
        </a:solidFill>
      </p:bgPr>
    </p:bg>
    <p:spTree>
      <p:nvGrpSpPr>
        <p:cNvPr id="1" name=""/>
        <p:cNvGrpSpPr/>
        <p:nvPr/>
      </p:nvGrpSpPr>
      <p:grpSpPr>
        <a:xfrm>
          <a:off x="0" y="0"/>
          <a:ext cx="0" cy="0"/>
          <a:chOff x="0" y="0"/>
          <a:chExt cx="0" cy="0"/>
        </a:xfrm>
      </p:grpSpPr>
      <p:pic>
        <p:nvPicPr>
          <p:cNvPr id="2" name="Image 0" descr="/tmp/claude-1000/-home-shiva-ajay-3D-IQOO-Hackathon/5b3f47cb-8e93-474d-997b-1b20d1cf681e/scratchpad/deck/assets/fixlens-logo-dark.png">    </p:cNvPr>
          <p:cNvPicPr>
            <a:picLocks noChangeAspect="1"/>
          </p:cNvPicPr>
          <p:nvPr/>
        </p:nvPicPr>
        <p:blipFill>
          <a:blip r:embed="rId1"/>
          <a:stretch>
            <a:fillRect/>
          </a:stretch>
        </p:blipFill>
        <p:spPr>
          <a:xfrm>
            <a:off x="731520" y="1417320"/>
            <a:ext cx="5120640" cy="1508760"/>
          </a:xfrm>
          <a:prstGeom prst="rect">
            <a:avLst/>
          </a:prstGeom>
        </p:spPr>
      </p:pic>
      <p:sp>
        <p:nvSpPr>
          <p:cNvPr id="3" name="Text 0"/>
          <p:cNvSpPr txBox="1"/>
          <p:nvPr/>
        </p:nvSpPr>
        <p:spPr>
          <a:xfrm>
            <a:off x="822960" y="3154680"/>
            <a:ext cx="5943600" cy="731520"/>
          </a:xfrm>
          <a:prstGeom prst="rect">
            <a:avLst/>
          </a:prstGeom>
          <a:noFill/>
          <a:ln/>
        </p:spPr>
        <p:txBody>
          <a:bodyPr wrap="square" lIns="0" tIns="0" rIns="0" bIns="0" rtlCol="0" anchor="ctr"/>
          <a:lstStyle/>
          <a:p>
            <a:pPr indent="0" marL="0">
              <a:buNone/>
            </a:pPr>
            <a:r>
              <a:rPr lang="en-US" sz="4000" b="1" dirty="0">
                <a:solidFill>
                  <a:srgbClr val="FF9F1C"/>
                </a:solidFill>
                <a:latin typeface="Arial" pitchFamily="34" charset="0"/>
                <a:ea typeface="Arial" pitchFamily="34" charset="-122"/>
                <a:cs typeface="Arial" pitchFamily="34" charset="-120"/>
              </a:rPr>
              <a:t>Point. Ask. Fix.</a:t>
            </a:r>
            <a:endParaRPr lang="en-US" sz="4000" dirty="0"/>
          </a:p>
        </p:txBody>
      </p:sp>
      <p:sp>
        <p:nvSpPr>
          <p:cNvPr id="4" name="Text 1"/>
          <p:cNvSpPr txBox="1"/>
          <p:nvPr/>
        </p:nvSpPr>
        <p:spPr>
          <a:xfrm>
            <a:off x="822960" y="3977640"/>
            <a:ext cx="5760720" cy="1005840"/>
          </a:xfrm>
          <a:prstGeom prst="rect">
            <a:avLst/>
          </a:prstGeom>
          <a:noFill/>
          <a:ln/>
        </p:spPr>
        <p:txBody>
          <a:bodyPr wrap="square" lIns="0" tIns="0" rIns="0" bIns="0" rtlCol="0" anchor="t"/>
          <a:lstStyle/>
          <a:p>
            <a:pPr indent="0" marL="0">
              <a:buNone/>
            </a:pPr>
            <a:r>
              <a:rPr lang="en-US" sz="1800" dirty="0">
                <a:solidFill>
                  <a:srgbClr val="F6F1E7"/>
                </a:solidFill>
                <a:latin typeface="Calibri" pitchFamily="34" charset="0"/>
                <a:ea typeface="Calibri" pitchFamily="34" charset="-122"/>
                <a:cs typeface="Calibri" pitchFamily="34" charset="-120"/>
              </a:rPr>
              <a:t>An offline repair assistant that sees the problem, listens to your question, and points at the exact part to fix. It runs entirely on the phone.</a:t>
            </a:r>
            <a:endParaRPr lang="en-US" sz="1800" dirty="0"/>
          </a:p>
        </p:txBody>
      </p:sp>
      <p:sp>
        <p:nvSpPr>
          <p:cNvPr id="5" name="Text 2"/>
          <p:cNvSpPr txBox="1"/>
          <p:nvPr/>
        </p:nvSpPr>
        <p:spPr>
          <a:xfrm>
            <a:off x="822960" y="5852160"/>
            <a:ext cx="5943600" cy="365760"/>
          </a:xfrm>
          <a:prstGeom prst="rect">
            <a:avLst/>
          </a:prstGeom>
          <a:noFill/>
          <a:ln/>
        </p:spPr>
        <p:txBody>
          <a:bodyPr wrap="square" lIns="0" tIns="0" rIns="0" bIns="0" rtlCol="0" anchor="ctr"/>
          <a:lstStyle/>
          <a:p>
            <a:pPr indent="0" marL="0">
              <a:buNone/>
            </a:pPr>
            <a:r>
              <a:rPr lang="en-US" sz="1300" dirty="0">
                <a:solidFill>
                  <a:srgbClr val="8FA0B6"/>
                </a:solidFill>
                <a:latin typeface="Calibri" pitchFamily="34" charset="0"/>
                <a:ea typeface="Calibri" pitchFamily="34" charset="-122"/>
                <a:cs typeface="Calibri" pitchFamily="34" charset="-120"/>
              </a:rPr>
              <a:t>iQOO City Battles  ·  Hyderabad  ·  Round 1</a:t>
            </a:r>
            <a:endParaRPr lang="en-US" sz="1300" dirty="0"/>
          </a:p>
        </p:txBody>
      </p:sp>
      <p:sp>
        <p:nvSpPr>
          <p:cNvPr id="6" name="Shape 3"/>
          <p:cNvSpPr/>
          <p:nvPr/>
        </p:nvSpPr>
        <p:spPr>
          <a:xfrm>
            <a:off x="7498080" y="1234440"/>
            <a:ext cx="3931920" cy="3931920"/>
          </a:xfrm>
          <a:prstGeom prst="ellipse">
            <a:avLst/>
          </a:prstGeom>
          <a:solidFill>
            <a:srgbClr val="1B2E48"/>
          </a:solidFill>
          <a:ln w="12700">
            <a:solidFill>
              <a:srgbClr val="1B2E48"/>
            </a:solidFill>
            <a:prstDash val="solid"/>
          </a:ln>
        </p:spPr>
      </p:sp>
      <p:pic>
        <p:nvPicPr>
          <p:cNvPr id="7" name="Image 1" descr="/tmp/claude-1000/-home-shiva-ajay-3D-IQOO-Hackathon/5b3f47cb-8e93-474d-997b-1b20d1cf681e/scratchpad/deck/assets/fixy-greeting.png">    </p:cNvPr>
          <p:cNvPicPr>
            <a:picLocks noChangeAspect="1"/>
          </p:cNvPicPr>
          <p:nvPr/>
        </p:nvPicPr>
        <p:blipFill>
          <a:blip r:embed="rId2"/>
          <a:stretch>
            <a:fillRect/>
          </a:stretch>
        </p:blipFill>
        <p:spPr>
          <a:xfrm>
            <a:off x="7635240" y="1417320"/>
            <a:ext cx="3657600" cy="3657600"/>
          </a:xfrm>
          <a:prstGeom prst="rect">
            <a:avLst/>
          </a:prstGeom>
        </p:spPr>
      </p:pic>
      <p:sp>
        <p:nvSpPr>
          <p:cNvPr id="8" name="Shape 4"/>
          <p:cNvSpPr/>
          <p:nvPr/>
        </p:nvSpPr>
        <p:spPr>
          <a:xfrm>
            <a:off x="7269480" y="1005840"/>
            <a:ext cx="502920" cy="0"/>
          </a:xfrm>
          <a:prstGeom prst="line">
            <a:avLst/>
          </a:prstGeom>
          <a:noFill/>
          <a:ln w="50800">
            <a:solidFill>
              <a:srgbClr val="FF9F1C"/>
            </a:solidFill>
            <a:prstDash val="solid"/>
          </a:ln>
        </p:spPr>
      </p:sp>
      <p:sp>
        <p:nvSpPr>
          <p:cNvPr id="9" name="Shape 5"/>
          <p:cNvSpPr/>
          <p:nvPr/>
        </p:nvSpPr>
        <p:spPr>
          <a:xfrm>
            <a:off x="7269480" y="1005840"/>
            <a:ext cx="0" cy="502920"/>
          </a:xfrm>
          <a:prstGeom prst="line">
            <a:avLst/>
          </a:prstGeom>
          <a:noFill/>
          <a:ln w="50800">
            <a:solidFill>
              <a:srgbClr val="FF9F1C"/>
            </a:solidFill>
            <a:prstDash val="solid"/>
          </a:ln>
        </p:spPr>
      </p:sp>
      <p:sp>
        <p:nvSpPr>
          <p:cNvPr id="10" name="Shape 6"/>
          <p:cNvSpPr/>
          <p:nvPr/>
        </p:nvSpPr>
        <p:spPr>
          <a:xfrm>
            <a:off x="11155680" y="1005840"/>
            <a:ext cx="502920" cy="0"/>
          </a:xfrm>
          <a:prstGeom prst="line">
            <a:avLst/>
          </a:prstGeom>
          <a:noFill/>
          <a:ln w="50800">
            <a:solidFill>
              <a:srgbClr val="FF9F1C"/>
            </a:solidFill>
            <a:prstDash val="solid"/>
          </a:ln>
        </p:spPr>
      </p:sp>
      <p:sp>
        <p:nvSpPr>
          <p:cNvPr id="11" name="Shape 7"/>
          <p:cNvSpPr/>
          <p:nvPr/>
        </p:nvSpPr>
        <p:spPr>
          <a:xfrm>
            <a:off x="11658600" y="1005840"/>
            <a:ext cx="0" cy="502920"/>
          </a:xfrm>
          <a:prstGeom prst="line">
            <a:avLst/>
          </a:prstGeom>
          <a:noFill/>
          <a:ln w="50800">
            <a:solidFill>
              <a:srgbClr val="FF9F1C"/>
            </a:solidFill>
            <a:prstDash val="solid"/>
          </a:ln>
        </p:spPr>
      </p:sp>
      <p:sp>
        <p:nvSpPr>
          <p:cNvPr id="12" name="Shape 8"/>
          <p:cNvSpPr/>
          <p:nvPr/>
        </p:nvSpPr>
        <p:spPr>
          <a:xfrm>
            <a:off x="7269480" y="5394960"/>
            <a:ext cx="502920" cy="0"/>
          </a:xfrm>
          <a:prstGeom prst="line">
            <a:avLst/>
          </a:prstGeom>
          <a:noFill/>
          <a:ln w="50800">
            <a:solidFill>
              <a:srgbClr val="FF9F1C"/>
            </a:solidFill>
            <a:prstDash val="solid"/>
          </a:ln>
        </p:spPr>
      </p:sp>
      <p:sp>
        <p:nvSpPr>
          <p:cNvPr id="13" name="Shape 9"/>
          <p:cNvSpPr/>
          <p:nvPr/>
        </p:nvSpPr>
        <p:spPr>
          <a:xfrm>
            <a:off x="7269480" y="4892040"/>
            <a:ext cx="0" cy="502920"/>
          </a:xfrm>
          <a:prstGeom prst="line">
            <a:avLst/>
          </a:prstGeom>
          <a:noFill/>
          <a:ln w="50800">
            <a:solidFill>
              <a:srgbClr val="FF9F1C"/>
            </a:solidFill>
            <a:prstDash val="solid"/>
          </a:ln>
        </p:spPr>
      </p:sp>
      <p:sp>
        <p:nvSpPr>
          <p:cNvPr id="14" name="Shape 10"/>
          <p:cNvSpPr/>
          <p:nvPr/>
        </p:nvSpPr>
        <p:spPr>
          <a:xfrm>
            <a:off x="11155680" y="5394960"/>
            <a:ext cx="502920" cy="0"/>
          </a:xfrm>
          <a:prstGeom prst="line">
            <a:avLst/>
          </a:prstGeom>
          <a:noFill/>
          <a:ln w="50800">
            <a:solidFill>
              <a:srgbClr val="FF9F1C"/>
            </a:solidFill>
            <a:prstDash val="solid"/>
          </a:ln>
        </p:spPr>
      </p:sp>
      <p:sp>
        <p:nvSpPr>
          <p:cNvPr id="15" name="Shape 11"/>
          <p:cNvSpPr/>
          <p:nvPr/>
        </p:nvSpPr>
        <p:spPr>
          <a:xfrm>
            <a:off x="11658600" y="4892040"/>
            <a:ext cx="0" cy="502920"/>
          </a:xfrm>
          <a:prstGeom prst="line">
            <a:avLst/>
          </a:prstGeom>
          <a:noFill/>
          <a:ln w="50800">
            <a:solidFill>
              <a:srgbClr val="FF9F1C"/>
            </a:solidFill>
            <a:prstDash val="solid"/>
          </a:ln>
        </p:spPr>
      </p:sp>
      <p:sp>
        <p:nvSpPr>
          <p:cNvPr id="16" name="Text 12"/>
          <p:cNvSpPr txBox="1"/>
          <p:nvPr/>
        </p:nvSpPr>
        <p:spPr>
          <a:xfrm>
            <a:off x="7269480" y="5532120"/>
            <a:ext cx="4389120" cy="411480"/>
          </a:xfrm>
          <a:prstGeom prst="rect">
            <a:avLst/>
          </a:prstGeom>
          <a:noFill/>
          <a:ln/>
        </p:spPr>
        <p:txBody>
          <a:bodyPr wrap="square" lIns="0" tIns="0" rIns="0" bIns="0" rtlCol="0" anchor="ctr"/>
          <a:lstStyle/>
          <a:p>
            <a:pPr algn="ctr" indent="0" marL="0">
              <a:buNone/>
            </a:pPr>
            <a:r>
              <a:rPr lang="en-US" sz="1600" i="1" dirty="0">
                <a:solidFill>
                  <a:srgbClr val="F6F1E7"/>
                </a:solidFill>
                <a:latin typeface="Calibri" pitchFamily="34" charset="0"/>
                <a:ea typeface="Calibri" pitchFamily="34" charset="-122"/>
                <a:cs typeface="Calibri" pitchFamily="34" charset="-120"/>
              </a:rPr>
              <a:t>“Hi, I'm Fixy!”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5B6B80"/>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400" b="1" dirty="0">
                <a:solidFill>
                  <a:srgbClr val="0F1C2E"/>
                </a:solidFill>
                <a:latin typeface="Arial" pitchFamily="34" charset="0"/>
                <a:ea typeface="Arial" pitchFamily="34" charset="-122"/>
                <a:cs typeface="Arial" pitchFamily="34" charset="-120"/>
              </a:rPr>
              <a:t>Your machine shows “E4”. Now what?</a:t>
            </a:r>
            <a:endParaRPr lang="en-US" sz="3400" dirty="0"/>
          </a:p>
        </p:txBody>
      </p:sp>
      <p:sp>
        <p:nvSpPr>
          <p:cNvPr id="4" name="Shape 2"/>
          <p:cNvSpPr/>
          <p:nvPr/>
        </p:nvSpPr>
        <p:spPr>
          <a:xfrm>
            <a:off x="548640" y="1508760"/>
            <a:ext cx="4480560" cy="3246120"/>
          </a:xfrm>
          <a:prstGeom prst="roundRect">
            <a:avLst>
              <a:gd name="adj" fmla="val 7042"/>
            </a:avLst>
          </a:prstGeom>
          <a:solidFill>
            <a:srgbClr val="DCE3EC"/>
          </a:solidFill>
          <a:ln w="12700">
            <a:solidFill>
              <a:srgbClr val="DCE3EC"/>
            </a:solidFill>
            <a:prstDash val="solid"/>
          </a:ln>
        </p:spPr>
      </p:sp>
      <p:sp>
        <p:nvSpPr>
          <p:cNvPr id="5" name="Shape 3"/>
          <p:cNvSpPr/>
          <p:nvPr/>
        </p:nvSpPr>
        <p:spPr>
          <a:xfrm>
            <a:off x="1005840" y="1874520"/>
            <a:ext cx="2331720" cy="1371600"/>
          </a:xfrm>
          <a:prstGeom prst="roundRect">
            <a:avLst>
              <a:gd name="adj" fmla="val 8000"/>
            </a:avLst>
          </a:prstGeom>
          <a:solidFill>
            <a:srgbClr val="0F1C2E"/>
          </a:solidFill>
          <a:ln w="12700">
            <a:solidFill>
              <a:srgbClr val="0F1C2E"/>
            </a:solidFill>
            <a:prstDash val="solid"/>
          </a:ln>
        </p:spPr>
      </p:sp>
      <p:sp>
        <p:nvSpPr>
          <p:cNvPr id="6" name="Text 4"/>
          <p:cNvSpPr txBox="1"/>
          <p:nvPr/>
        </p:nvSpPr>
        <p:spPr>
          <a:xfrm>
            <a:off x="1005840" y="1874520"/>
            <a:ext cx="2331720" cy="1371600"/>
          </a:xfrm>
          <a:prstGeom prst="rect">
            <a:avLst/>
          </a:prstGeom>
          <a:noFill/>
          <a:ln/>
        </p:spPr>
        <p:txBody>
          <a:bodyPr wrap="square" lIns="0" tIns="0" rIns="0" bIns="0" rtlCol="0" anchor="ctr"/>
          <a:lstStyle/>
          <a:p>
            <a:pPr algn="ctr" indent="0" marL="0">
              <a:buNone/>
            </a:pPr>
            <a:r>
              <a:rPr lang="en-US" sz="6600" b="1" dirty="0">
                <a:solidFill>
                  <a:srgbClr val="FF9F1C"/>
                </a:solidFill>
                <a:latin typeface="Courier New" pitchFamily="34" charset="0"/>
                <a:ea typeface="Courier New" pitchFamily="34" charset="-122"/>
                <a:cs typeface="Courier New" pitchFamily="34" charset="-120"/>
              </a:rPr>
              <a:t>E4</a:t>
            </a:r>
            <a:endParaRPr lang="en-US" sz="6600" dirty="0"/>
          </a:p>
        </p:txBody>
      </p:sp>
      <p:sp>
        <p:nvSpPr>
          <p:cNvPr id="7" name="Shape 5"/>
          <p:cNvSpPr/>
          <p:nvPr/>
        </p:nvSpPr>
        <p:spPr>
          <a:xfrm>
            <a:off x="3611880" y="1920240"/>
            <a:ext cx="1143000" cy="1143000"/>
          </a:xfrm>
          <a:prstGeom prst="ellipse">
            <a:avLst/>
          </a:prstGeom>
          <a:solidFill>
            <a:srgbClr val="FFFFFF"/>
          </a:solidFill>
          <a:ln w="25400">
            <a:solidFill>
              <a:srgbClr val="9AA8BA"/>
            </a:solidFill>
            <a:prstDash val="solid"/>
          </a:ln>
        </p:spPr>
      </p:sp>
      <p:sp>
        <p:nvSpPr>
          <p:cNvPr id="8" name="Shape 6"/>
          <p:cNvSpPr/>
          <p:nvPr/>
        </p:nvSpPr>
        <p:spPr>
          <a:xfrm>
            <a:off x="3977640" y="2286000"/>
            <a:ext cx="411480" cy="411480"/>
          </a:xfrm>
          <a:prstGeom prst="ellipse">
            <a:avLst/>
          </a:prstGeom>
          <a:solidFill>
            <a:srgbClr val="9AA8BA"/>
          </a:solidFill>
          <a:ln w="12700">
            <a:solidFill>
              <a:srgbClr val="9AA8BA"/>
            </a:solidFill>
            <a:prstDash val="solid"/>
          </a:ln>
        </p:spPr>
      </p:sp>
      <p:sp>
        <p:nvSpPr>
          <p:cNvPr id="9" name="Shape 7"/>
          <p:cNvSpPr/>
          <p:nvPr/>
        </p:nvSpPr>
        <p:spPr>
          <a:xfrm>
            <a:off x="1051560" y="3611880"/>
            <a:ext cx="292608" cy="292608"/>
          </a:xfrm>
          <a:prstGeom prst="ellipse">
            <a:avLst/>
          </a:prstGeom>
          <a:solidFill>
            <a:srgbClr val="9AA8BA"/>
          </a:solidFill>
          <a:ln w="12700">
            <a:solidFill>
              <a:srgbClr val="FFFFFF"/>
            </a:solidFill>
            <a:prstDash val="solid"/>
          </a:ln>
        </p:spPr>
      </p:sp>
      <p:sp>
        <p:nvSpPr>
          <p:cNvPr id="10" name="Shape 8"/>
          <p:cNvSpPr/>
          <p:nvPr/>
        </p:nvSpPr>
        <p:spPr>
          <a:xfrm>
            <a:off x="1673352" y="3611880"/>
            <a:ext cx="292608" cy="292608"/>
          </a:xfrm>
          <a:prstGeom prst="ellipse">
            <a:avLst/>
          </a:prstGeom>
          <a:solidFill>
            <a:srgbClr val="FF9F1C"/>
          </a:solidFill>
          <a:ln w="12700">
            <a:solidFill>
              <a:srgbClr val="FFFFFF"/>
            </a:solidFill>
            <a:prstDash val="solid"/>
          </a:ln>
        </p:spPr>
      </p:sp>
      <p:sp>
        <p:nvSpPr>
          <p:cNvPr id="11" name="Shape 9"/>
          <p:cNvSpPr/>
          <p:nvPr/>
        </p:nvSpPr>
        <p:spPr>
          <a:xfrm>
            <a:off x="2295144" y="3611880"/>
            <a:ext cx="292608" cy="292608"/>
          </a:xfrm>
          <a:prstGeom prst="ellipse">
            <a:avLst/>
          </a:prstGeom>
          <a:solidFill>
            <a:srgbClr val="9AA8BA"/>
          </a:solidFill>
          <a:ln w="12700">
            <a:solidFill>
              <a:srgbClr val="FFFFFF"/>
            </a:solidFill>
            <a:prstDash val="solid"/>
          </a:ln>
        </p:spPr>
      </p:sp>
      <p:sp>
        <p:nvSpPr>
          <p:cNvPr id="12" name="Shape 10"/>
          <p:cNvSpPr/>
          <p:nvPr/>
        </p:nvSpPr>
        <p:spPr>
          <a:xfrm>
            <a:off x="2916936" y="3611880"/>
            <a:ext cx="292608" cy="292608"/>
          </a:xfrm>
          <a:prstGeom prst="ellipse">
            <a:avLst/>
          </a:prstGeom>
          <a:solidFill>
            <a:srgbClr val="9AA8BA"/>
          </a:solidFill>
          <a:ln w="12700">
            <a:solidFill>
              <a:srgbClr val="FFFFFF"/>
            </a:solidFill>
            <a:prstDash val="solid"/>
          </a:ln>
        </p:spPr>
      </p:sp>
      <p:sp>
        <p:nvSpPr>
          <p:cNvPr id="13" name="Text 11"/>
          <p:cNvSpPr txBox="1"/>
          <p:nvPr/>
        </p:nvSpPr>
        <p:spPr>
          <a:xfrm>
            <a:off x="1005840" y="4069080"/>
            <a:ext cx="3749040" cy="457200"/>
          </a:xfrm>
          <a:prstGeom prst="rect">
            <a:avLst/>
          </a:prstGeom>
          <a:noFill/>
          <a:ln/>
        </p:spPr>
        <p:txBody>
          <a:bodyPr wrap="square" lIns="0" tIns="0" rIns="0" bIns="0" rtlCol="0" anchor="ctr"/>
          <a:lstStyle/>
          <a:p>
            <a:pPr indent="0" marL="0">
              <a:buNone/>
            </a:pPr>
            <a:r>
              <a:rPr lang="en-US" sz="1400" i="1" dirty="0">
                <a:solidFill>
                  <a:srgbClr val="0F1C2E"/>
                </a:solidFill>
                <a:latin typeface="Calibri" pitchFamily="34" charset="0"/>
                <a:ea typeface="Calibri" pitchFamily="34" charset="-122"/>
                <a:cs typeface="Calibri" pitchFamily="34" charset="-120"/>
              </a:rPr>
              <a:t>No manual. Just a code and a blinking light.</a:t>
            </a:r>
            <a:endParaRPr lang="en-US" sz="1400" dirty="0"/>
          </a:p>
        </p:txBody>
      </p:sp>
      <p:sp>
        <p:nvSpPr>
          <p:cNvPr id="14" name="Shape 12"/>
          <p:cNvSpPr/>
          <p:nvPr/>
        </p:nvSpPr>
        <p:spPr>
          <a:xfrm>
            <a:off x="5577840" y="1554480"/>
            <a:ext cx="658368" cy="658368"/>
          </a:xfrm>
          <a:prstGeom prst="ellipse">
            <a:avLst/>
          </a:prstGeom>
          <a:solidFill>
            <a:srgbClr val="0F1C2E"/>
          </a:solidFill>
          <a:ln w="12700">
            <a:solidFill>
              <a:srgbClr val="0F1C2E"/>
            </a:solidFill>
            <a:prstDash val="solid"/>
          </a:ln>
        </p:spPr>
      </p:sp>
      <p:pic>
        <p:nvPicPr>
          <p:cNvPr id="15" name="Image 0" descr="preencoded.png">    </p:cNvPr>
          <p:cNvPicPr>
            <a:picLocks noChangeAspect="1"/>
          </p:cNvPicPr>
          <p:nvPr/>
        </p:nvPicPr>
        <p:blipFill>
          <a:blip r:embed="rId1"/>
          <a:stretch>
            <a:fillRect/>
          </a:stretch>
        </p:blipFill>
        <p:spPr>
          <a:xfrm>
            <a:off x="5742432" y="1719072"/>
            <a:ext cx="329184" cy="329184"/>
          </a:xfrm>
          <a:prstGeom prst="rect">
            <a:avLst/>
          </a:prstGeom>
        </p:spPr>
      </p:pic>
      <p:sp>
        <p:nvSpPr>
          <p:cNvPr id="16" name="Text 13"/>
          <p:cNvSpPr txBox="1"/>
          <p:nvPr/>
        </p:nvSpPr>
        <p:spPr>
          <a:xfrm>
            <a:off x="6446520" y="1508760"/>
            <a:ext cx="5212080" cy="365760"/>
          </a:xfrm>
          <a:prstGeom prst="rect">
            <a:avLst/>
          </a:prstGeom>
          <a:noFill/>
          <a:ln/>
        </p:spPr>
        <p:txBody>
          <a:bodyPr wrap="square" lIns="0" tIns="0" rIns="0" bIns="0" rtlCol="0" anchor="ctr"/>
          <a:lstStyle/>
          <a:p>
            <a:pPr indent="0" marL="0">
              <a:buNone/>
            </a:pPr>
            <a:r>
              <a:rPr lang="en-US" sz="1700" b="1" dirty="0">
                <a:solidFill>
                  <a:srgbClr val="0F1C2E"/>
                </a:solidFill>
                <a:latin typeface="Arial" pitchFamily="34" charset="0"/>
                <a:ea typeface="Arial" pitchFamily="34" charset="-122"/>
                <a:cs typeface="Arial" pitchFamily="34" charset="-120"/>
              </a:rPr>
              <a:t>A cryptic code, and the manual is long gone</a:t>
            </a:r>
            <a:endParaRPr lang="en-US" sz="1700" dirty="0"/>
          </a:p>
        </p:txBody>
      </p:sp>
      <p:sp>
        <p:nvSpPr>
          <p:cNvPr id="17" name="Text 14"/>
          <p:cNvSpPr txBox="1"/>
          <p:nvPr/>
        </p:nvSpPr>
        <p:spPr>
          <a:xfrm>
            <a:off x="6446520" y="1892808"/>
            <a:ext cx="5212080" cy="640080"/>
          </a:xfrm>
          <a:prstGeom prst="rect">
            <a:avLst/>
          </a:prstGeom>
          <a:noFill/>
          <a:ln/>
        </p:spPr>
        <p:txBody>
          <a:bodyPr wrap="square" lIns="0" tIns="0" rIns="0" bIns="0" rtlCol="0" anchor="t"/>
          <a:lstStyle/>
          <a:p>
            <a:pPr indent="0" marL="0">
              <a:buNone/>
            </a:pPr>
            <a:r>
              <a:rPr lang="en-US" sz="1400" dirty="0">
                <a:solidFill>
                  <a:srgbClr val="5B6B80"/>
                </a:solidFill>
                <a:latin typeface="Calibri" pitchFamily="34" charset="0"/>
                <a:ea typeface="Calibri" pitchFamily="34" charset="-122"/>
                <a:cs typeface="Calibri" pitchFamily="34" charset="-120"/>
              </a:rPr>
              <a:t>Appliances and cars talk in codes like “OE”, “E4” or a warning light. Nobody tells you what they mean.</a:t>
            </a:r>
            <a:endParaRPr lang="en-US" sz="1400" dirty="0"/>
          </a:p>
        </p:txBody>
      </p:sp>
      <p:sp>
        <p:nvSpPr>
          <p:cNvPr id="18" name="Shape 15"/>
          <p:cNvSpPr/>
          <p:nvPr/>
        </p:nvSpPr>
        <p:spPr>
          <a:xfrm>
            <a:off x="5577840" y="2670048"/>
            <a:ext cx="658368" cy="658368"/>
          </a:xfrm>
          <a:prstGeom prst="ellipse">
            <a:avLst/>
          </a:prstGeom>
          <a:solidFill>
            <a:srgbClr val="0F1C2E"/>
          </a:solidFill>
          <a:ln w="12700">
            <a:solidFill>
              <a:srgbClr val="0F1C2E"/>
            </a:solidFill>
            <a:prstDash val="solid"/>
          </a:ln>
        </p:spPr>
      </p:sp>
      <p:pic>
        <p:nvPicPr>
          <p:cNvPr id="19" name="Image 1" descr="preencoded.png">    </p:cNvPr>
          <p:cNvPicPr>
            <a:picLocks noChangeAspect="1"/>
          </p:cNvPicPr>
          <p:nvPr/>
        </p:nvPicPr>
        <p:blipFill>
          <a:blip r:embed="rId2"/>
          <a:stretch>
            <a:fillRect/>
          </a:stretch>
        </p:blipFill>
        <p:spPr>
          <a:xfrm>
            <a:off x="5742432" y="2834640"/>
            <a:ext cx="329184" cy="329184"/>
          </a:xfrm>
          <a:prstGeom prst="rect">
            <a:avLst/>
          </a:prstGeom>
        </p:spPr>
      </p:pic>
      <p:sp>
        <p:nvSpPr>
          <p:cNvPr id="20" name="Text 16"/>
          <p:cNvSpPr txBox="1"/>
          <p:nvPr/>
        </p:nvSpPr>
        <p:spPr>
          <a:xfrm>
            <a:off x="6446520" y="2624328"/>
            <a:ext cx="5212080" cy="365760"/>
          </a:xfrm>
          <a:prstGeom prst="rect">
            <a:avLst/>
          </a:prstGeom>
          <a:noFill/>
          <a:ln/>
        </p:spPr>
        <p:txBody>
          <a:bodyPr wrap="square" lIns="0" tIns="0" rIns="0" bIns="0" rtlCol="0" anchor="ctr"/>
          <a:lstStyle/>
          <a:p>
            <a:pPr indent="0" marL="0">
              <a:buNone/>
            </a:pPr>
            <a:r>
              <a:rPr lang="en-US" sz="1700" b="1" dirty="0">
                <a:solidFill>
                  <a:srgbClr val="0F1C2E"/>
                </a:solidFill>
                <a:latin typeface="Arial" pitchFamily="34" charset="0"/>
                <a:ea typeface="Arial" pitchFamily="34" charset="-122"/>
                <a:cs typeface="Arial" pitchFamily="34" charset="-120"/>
              </a:rPr>
              <a:t>Help costs time and money</a:t>
            </a:r>
            <a:endParaRPr lang="en-US" sz="1700" dirty="0"/>
          </a:p>
        </p:txBody>
      </p:sp>
      <p:sp>
        <p:nvSpPr>
          <p:cNvPr id="21" name="Text 17"/>
          <p:cNvSpPr txBox="1"/>
          <p:nvPr/>
        </p:nvSpPr>
        <p:spPr>
          <a:xfrm>
            <a:off x="6446520" y="3008376"/>
            <a:ext cx="5212080" cy="640080"/>
          </a:xfrm>
          <a:prstGeom prst="rect">
            <a:avLst/>
          </a:prstGeom>
          <a:noFill/>
          <a:ln/>
        </p:spPr>
        <p:txBody>
          <a:bodyPr wrap="square" lIns="0" tIns="0" rIns="0" bIns="0" rtlCol="0" anchor="t"/>
          <a:lstStyle/>
          <a:p>
            <a:pPr indent="0" marL="0">
              <a:buNone/>
            </a:pPr>
            <a:r>
              <a:rPr lang="en-US" sz="1400" dirty="0">
                <a:solidFill>
                  <a:srgbClr val="5B6B80"/>
                </a:solidFill>
                <a:latin typeface="Calibri" pitchFamily="34" charset="0"/>
                <a:ea typeface="Calibri" pitchFamily="34" charset="-122"/>
                <a:cs typeface="Calibri" pitchFamily="34" charset="-120"/>
              </a:rPr>
              <a:t>Helplines mean queues. A technician visit costs money and often takes days, even for a 2-minute fix.</a:t>
            </a:r>
            <a:endParaRPr lang="en-US" sz="1400" dirty="0"/>
          </a:p>
        </p:txBody>
      </p:sp>
      <p:sp>
        <p:nvSpPr>
          <p:cNvPr id="22" name="Shape 18"/>
          <p:cNvSpPr/>
          <p:nvPr/>
        </p:nvSpPr>
        <p:spPr>
          <a:xfrm>
            <a:off x="5577840" y="3785616"/>
            <a:ext cx="658368" cy="658368"/>
          </a:xfrm>
          <a:prstGeom prst="ellipse">
            <a:avLst/>
          </a:prstGeom>
          <a:solidFill>
            <a:srgbClr val="0F1C2E"/>
          </a:solidFill>
          <a:ln w="12700">
            <a:solidFill>
              <a:srgbClr val="0F1C2E"/>
            </a:solidFill>
            <a:prstDash val="solid"/>
          </a:ln>
        </p:spPr>
      </p:sp>
      <p:pic>
        <p:nvPicPr>
          <p:cNvPr id="23" name="Image 2" descr="preencoded.png">    </p:cNvPr>
          <p:cNvPicPr>
            <a:picLocks noChangeAspect="1"/>
          </p:cNvPicPr>
          <p:nvPr/>
        </p:nvPicPr>
        <p:blipFill>
          <a:blip r:embed="rId3"/>
          <a:stretch>
            <a:fillRect/>
          </a:stretch>
        </p:blipFill>
        <p:spPr>
          <a:xfrm>
            <a:off x="5742432" y="3950208"/>
            <a:ext cx="329184" cy="329184"/>
          </a:xfrm>
          <a:prstGeom prst="rect">
            <a:avLst/>
          </a:prstGeom>
        </p:spPr>
      </p:pic>
      <p:sp>
        <p:nvSpPr>
          <p:cNvPr id="24" name="Text 19"/>
          <p:cNvSpPr txBox="1"/>
          <p:nvPr/>
        </p:nvSpPr>
        <p:spPr>
          <a:xfrm>
            <a:off x="6446520" y="3739896"/>
            <a:ext cx="5212080" cy="365760"/>
          </a:xfrm>
          <a:prstGeom prst="rect">
            <a:avLst/>
          </a:prstGeom>
          <a:noFill/>
          <a:ln/>
        </p:spPr>
        <p:txBody>
          <a:bodyPr wrap="square" lIns="0" tIns="0" rIns="0" bIns="0" rtlCol="0" anchor="ctr"/>
          <a:lstStyle/>
          <a:p>
            <a:pPr indent="0" marL="0">
              <a:buNone/>
            </a:pPr>
            <a:r>
              <a:rPr lang="en-US" sz="1700" b="1" dirty="0">
                <a:solidFill>
                  <a:srgbClr val="0F1C2E"/>
                </a:solidFill>
                <a:latin typeface="Arial" pitchFamily="34" charset="0"/>
                <a:ea typeface="Arial" pitchFamily="34" charset="-122"/>
                <a:cs typeface="Arial" pitchFamily="34" charset="-120"/>
              </a:rPr>
              <a:t>It breaks where the signal is worst</a:t>
            </a:r>
            <a:endParaRPr lang="en-US" sz="1700" dirty="0"/>
          </a:p>
        </p:txBody>
      </p:sp>
      <p:sp>
        <p:nvSpPr>
          <p:cNvPr id="25" name="Text 20"/>
          <p:cNvSpPr txBox="1"/>
          <p:nvPr/>
        </p:nvSpPr>
        <p:spPr>
          <a:xfrm>
            <a:off x="6446520" y="4123944"/>
            <a:ext cx="5212080" cy="640080"/>
          </a:xfrm>
          <a:prstGeom prst="rect">
            <a:avLst/>
          </a:prstGeom>
          <a:noFill/>
          <a:ln/>
        </p:spPr>
        <p:txBody>
          <a:bodyPr wrap="square" lIns="0" tIns="0" rIns="0" bIns="0" rtlCol="0" anchor="t"/>
          <a:lstStyle/>
          <a:p>
            <a:pPr indent="0" marL="0">
              <a:buNone/>
            </a:pPr>
            <a:r>
              <a:rPr lang="en-US" sz="1400" dirty="0">
                <a:solidFill>
                  <a:srgbClr val="5B6B80"/>
                </a:solidFill>
                <a:latin typeface="Calibri" pitchFamily="34" charset="0"/>
                <a:ea typeface="Calibri" pitchFamily="34" charset="-122"/>
                <a:cs typeface="Calibri" pitchFamily="34" charset="-120"/>
              </a:rPr>
              <a:t>Utility rooms, basements, terraces and parking lots. Online help and cloud AI can't reach you there.</a:t>
            </a:r>
            <a:endParaRPr lang="en-US" sz="1400" dirty="0"/>
          </a:p>
        </p:txBody>
      </p:sp>
      <p:sp>
        <p:nvSpPr>
          <p:cNvPr id="26" name="Shape 21"/>
          <p:cNvSpPr/>
          <p:nvPr/>
        </p:nvSpPr>
        <p:spPr>
          <a:xfrm>
            <a:off x="548640" y="5074920"/>
            <a:ext cx="11064240" cy="1005840"/>
          </a:xfrm>
          <a:prstGeom prst="roundRect">
            <a:avLst>
              <a:gd name="adj" fmla="val 13636"/>
            </a:avLst>
          </a:prstGeom>
          <a:solidFill>
            <a:srgbClr val="EEF2F7"/>
          </a:solidFill>
          <a:ln w="12700">
            <a:solidFill>
              <a:srgbClr val="EEF2F7"/>
            </a:solidFill>
            <a:prstDash val="solid"/>
          </a:ln>
        </p:spPr>
      </p:sp>
      <p:pic>
        <p:nvPicPr>
          <p:cNvPr id="27" name="Image 3" descr="preencoded.png">    </p:cNvPr>
          <p:cNvPicPr>
            <a:picLocks noChangeAspect="1"/>
          </p:cNvPicPr>
          <p:nvPr/>
        </p:nvPicPr>
        <p:blipFill>
          <a:blip r:embed="rId4"/>
          <a:stretch>
            <a:fillRect/>
          </a:stretch>
        </p:blipFill>
        <p:spPr>
          <a:xfrm>
            <a:off x="868680" y="5349240"/>
            <a:ext cx="457200" cy="457200"/>
          </a:xfrm>
          <a:prstGeom prst="rect">
            <a:avLst/>
          </a:prstGeom>
        </p:spPr>
      </p:pic>
      <p:sp>
        <p:nvSpPr>
          <p:cNvPr id="28" name="Text 22"/>
          <p:cNvSpPr txBox="1"/>
          <p:nvPr/>
        </p:nvSpPr>
        <p:spPr>
          <a:xfrm>
            <a:off x="1600200" y="5074920"/>
            <a:ext cx="9784080" cy="1005840"/>
          </a:xfrm>
          <a:prstGeom prst="rect">
            <a:avLst/>
          </a:prstGeom>
          <a:noFill/>
          <a:ln/>
        </p:spPr>
        <p:txBody>
          <a:bodyPr wrap="square" lIns="0" tIns="0" rIns="0" bIns="0" rtlCol="0" anchor="ctr"/>
          <a:lstStyle/>
          <a:p>
            <a:pPr indent="0" marL="0">
              <a:buNone/>
            </a:pPr>
            <a:r>
              <a:rPr lang="en-US" sz="1800" b="1" dirty="0">
                <a:solidFill>
                  <a:srgbClr val="0F1C2E"/>
                </a:solidFill>
                <a:latin typeface="Calibri" pitchFamily="34" charset="0"/>
                <a:ea typeface="Calibri" pitchFamily="34" charset="-122"/>
                <a:cs typeface="Calibri" pitchFamily="34" charset="-120"/>
              </a:rPr>
              <a:t>The insight: </a:t>
            </a:r>
            <a:pPr indent="0" marL="0">
              <a:buNone/>
            </a:pPr>
            <a:r>
              <a:rPr lang="en-US" sz="1800" dirty="0">
                <a:solidFill>
                  <a:srgbClr val="0F1C2E"/>
                </a:solidFill>
                <a:latin typeface="Calibri" pitchFamily="34" charset="0"/>
                <a:ea typeface="Calibri" pitchFamily="34" charset="-122"/>
                <a:cs typeface="Calibri" pitchFamily="34" charset="-120"/>
              </a:rPr>
              <a:t>most fixes are simple, like a clogged filter, a loose cover or low fluid. People just don't know </a:t>
            </a:r>
            <a:pPr indent="0" marL="0">
              <a:buNone/>
            </a:pPr>
            <a:r>
              <a:rPr lang="en-US" sz="1800" b="1" dirty="0">
                <a:solidFill>
                  <a:srgbClr val="0F1C2E"/>
                </a:solidFill>
                <a:latin typeface="Calibri" pitchFamily="34" charset="0"/>
                <a:ea typeface="Calibri" pitchFamily="34" charset="-122"/>
                <a:cs typeface="Calibri" pitchFamily="34" charset="-120"/>
              </a:rPr>
              <a:t>where to look.</a:t>
            </a:r>
            <a:endParaRPr lang="en-US" sz="1800" dirty="0"/>
          </a:p>
        </p:txBody>
      </p:sp>
      <p:pic>
        <p:nvPicPr>
          <p:cNvPr id="29" name="Image 4" descr="/tmp/claude-1000/-home-shiva-ajay-3D-IQOO-Hackathon/5b3f47cb-8e93-474d-997b-1b20d1cf681e/scratchpad/deck/assets/fixlens-logo.png">    </p:cNvPr>
          <p:cNvPicPr>
            <a:picLocks noChangeAspect="1"/>
          </p:cNvPicPr>
          <p:nvPr/>
        </p:nvPicPr>
        <p:blipFill>
          <a:blip r:embed="rId5"/>
          <a:stretch>
            <a:fillRect/>
          </a:stretch>
        </p:blipFill>
        <p:spPr>
          <a:xfrm>
            <a:off x="10378440" y="6355080"/>
            <a:ext cx="1234440" cy="365760"/>
          </a:xfrm>
          <a:prstGeom prst="rect">
            <a:avLst/>
          </a:prstGeom>
        </p:spPr>
      </p:pic>
      <p:sp>
        <p:nvSpPr>
          <p:cNvPr id="30" name="Text 23"/>
          <p:cNvSpPr txBox="1"/>
          <p:nvPr/>
        </p:nvSpPr>
        <p:spPr>
          <a:xfrm>
            <a:off x="548640" y="6355080"/>
            <a:ext cx="457200" cy="365760"/>
          </a:xfrm>
          <a:prstGeom prst="rect">
            <a:avLst/>
          </a:prstGeom>
          <a:noFill/>
          <a:ln/>
        </p:spPr>
        <p:txBody>
          <a:bodyPr wrap="square" lIns="0" tIns="0" rIns="0" bIns="0" rtlCol="0" anchor="ctr"/>
          <a:lstStyle/>
          <a:p>
            <a:pPr indent="0" marL="0">
              <a:buNone/>
            </a:pPr>
            <a:r>
              <a:rPr lang="en-US" sz="1100" dirty="0">
                <a:solidFill>
                  <a:srgbClr val="5B6B80"/>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5B6B80"/>
                </a:solidFill>
                <a:latin typeface="Calibri" pitchFamily="34" charset="0"/>
                <a:ea typeface="Calibri" pitchFamily="34" charset="-122"/>
                <a:cs typeface="Calibri" pitchFamily="34" charset="-120"/>
              </a:rPr>
              <a:t>THE SOLUTION</a:t>
            </a:r>
            <a:endParaRPr lang="en-US" sz="1200" dirty="0"/>
          </a:p>
        </p:txBody>
      </p:sp>
      <p:sp>
        <p:nvSpPr>
          <p:cNvPr id="3" name="Text 1"/>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400" b="1" dirty="0">
                <a:solidFill>
                  <a:srgbClr val="0F1C2E"/>
                </a:solidFill>
                <a:latin typeface="Arial" pitchFamily="34" charset="0"/>
                <a:ea typeface="Arial" pitchFamily="34" charset="-122"/>
                <a:cs typeface="Arial" pitchFamily="34" charset="-120"/>
              </a:rPr>
              <a:t>Meet Fixy, a repair friend in your pocket</a:t>
            </a:r>
            <a:endParaRPr lang="en-US" sz="3400" dirty="0"/>
          </a:p>
        </p:txBody>
      </p:sp>
      <p:sp>
        <p:nvSpPr>
          <p:cNvPr id="4" name="Shape 2"/>
          <p:cNvSpPr/>
          <p:nvPr/>
        </p:nvSpPr>
        <p:spPr>
          <a:xfrm>
            <a:off x="822960" y="1371600"/>
            <a:ext cx="2514600" cy="4800600"/>
          </a:xfrm>
          <a:prstGeom prst="roundRect">
            <a:avLst>
              <a:gd name="adj" fmla="val 12727"/>
            </a:avLst>
          </a:prstGeom>
          <a:solidFill>
            <a:srgbClr val="0F1C2E"/>
          </a:solidFill>
          <a:ln w="12700">
            <a:solidFill>
              <a:srgbClr val="0F1C2E"/>
            </a:solidFill>
            <a:prstDash val="solid"/>
          </a:ln>
        </p:spPr>
      </p:sp>
      <p:sp>
        <p:nvSpPr>
          <p:cNvPr id="5" name="Shape 3"/>
          <p:cNvSpPr/>
          <p:nvPr/>
        </p:nvSpPr>
        <p:spPr>
          <a:xfrm>
            <a:off x="950976" y="1645920"/>
            <a:ext cx="2258568" cy="4297680"/>
          </a:xfrm>
          <a:prstGeom prst="rect">
            <a:avLst/>
          </a:prstGeom>
          <a:solidFill>
            <a:srgbClr val="2A3B52"/>
          </a:solidFill>
          <a:ln w="12700">
            <a:solidFill>
              <a:srgbClr val="2A3B52"/>
            </a:solidFill>
            <a:prstDash val="solid"/>
          </a:ln>
        </p:spPr>
      </p:sp>
      <p:sp>
        <p:nvSpPr>
          <p:cNvPr id="6" name="Shape 4"/>
          <p:cNvSpPr/>
          <p:nvPr/>
        </p:nvSpPr>
        <p:spPr>
          <a:xfrm>
            <a:off x="1088136" y="2103120"/>
            <a:ext cx="1984248" cy="2011680"/>
          </a:xfrm>
          <a:prstGeom prst="roundRect">
            <a:avLst>
              <a:gd name="adj" fmla="val 4608"/>
            </a:avLst>
          </a:prstGeom>
          <a:solidFill>
            <a:srgbClr val="D5DCE6"/>
          </a:solidFill>
          <a:ln w="12700">
            <a:solidFill>
              <a:srgbClr val="D5DCE6"/>
            </a:solidFill>
            <a:prstDash val="solid"/>
          </a:ln>
        </p:spPr>
      </p:sp>
      <p:sp>
        <p:nvSpPr>
          <p:cNvPr id="7" name="Shape 5"/>
          <p:cNvSpPr/>
          <p:nvPr/>
        </p:nvSpPr>
        <p:spPr>
          <a:xfrm>
            <a:off x="1225296" y="2331720"/>
            <a:ext cx="914400" cy="502920"/>
          </a:xfrm>
          <a:prstGeom prst="rect">
            <a:avLst/>
          </a:prstGeom>
          <a:solidFill>
            <a:srgbClr val="0F1C2E"/>
          </a:solidFill>
          <a:ln w="12700">
            <a:solidFill>
              <a:srgbClr val="0F1C2E"/>
            </a:solidFill>
            <a:prstDash val="solid"/>
          </a:ln>
        </p:spPr>
      </p:sp>
      <p:sp>
        <p:nvSpPr>
          <p:cNvPr id="8" name="Text 6"/>
          <p:cNvSpPr txBox="1"/>
          <p:nvPr/>
        </p:nvSpPr>
        <p:spPr>
          <a:xfrm>
            <a:off x="1225296" y="2331720"/>
            <a:ext cx="914400" cy="502920"/>
          </a:xfrm>
          <a:prstGeom prst="rect">
            <a:avLst/>
          </a:prstGeom>
          <a:noFill/>
          <a:ln/>
        </p:spPr>
        <p:txBody>
          <a:bodyPr wrap="square" lIns="0" tIns="0" rIns="0" bIns="0" rtlCol="0" anchor="ctr"/>
          <a:lstStyle/>
          <a:p>
            <a:pPr algn="ctr" indent="0" marL="0">
              <a:buNone/>
            </a:pPr>
            <a:r>
              <a:rPr lang="en-US" sz="2400" b="1" dirty="0">
                <a:solidFill>
                  <a:srgbClr val="FF9F1C"/>
                </a:solidFill>
                <a:latin typeface="Courier New" pitchFamily="34" charset="0"/>
                <a:ea typeface="Courier New" pitchFamily="34" charset="-122"/>
                <a:cs typeface="Courier New" pitchFamily="34" charset="-120"/>
              </a:rPr>
              <a:t>OE</a:t>
            </a:r>
            <a:endParaRPr lang="en-US" sz="2400" dirty="0"/>
          </a:p>
        </p:txBody>
      </p:sp>
      <p:sp>
        <p:nvSpPr>
          <p:cNvPr id="9" name="Shape 7"/>
          <p:cNvSpPr/>
          <p:nvPr/>
        </p:nvSpPr>
        <p:spPr>
          <a:xfrm>
            <a:off x="2322576" y="2286000"/>
            <a:ext cx="685800" cy="685800"/>
          </a:xfrm>
          <a:prstGeom prst="ellipse">
            <a:avLst/>
          </a:prstGeom>
          <a:solidFill>
            <a:srgbClr val="FFFFFF"/>
          </a:solidFill>
          <a:ln w="19050">
            <a:solidFill>
              <a:srgbClr val="8795A8"/>
            </a:solidFill>
            <a:prstDash val="solid"/>
          </a:ln>
        </p:spPr>
      </p:sp>
      <p:sp>
        <p:nvSpPr>
          <p:cNvPr id="10" name="Shape 8"/>
          <p:cNvSpPr/>
          <p:nvPr/>
        </p:nvSpPr>
        <p:spPr>
          <a:xfrm>
            <a:off x="1225296" y="3246120"/>
            <a:ext cx="685800" cy="640080"/>
          </a:xfrm>
          <a:prstGeom prst="rect">
            <a:avLst/>
          </a:prstGeom>
          <a:solidFill>
            <a:srgbClr val="B7C2D0"/>
          </a:solidFill>
          <a:ln w="12700">
            <a:solidFill>
              <a:srgbClr val="8795A8"/>
            </a:solidFill>
            <a:prstDash val="solid"/>
          </a:ln>
        </p:spPr>
      </p:sp>
      <p:sp>
        <p:nvSpPr>
          <p:cNvPr id="11" name="Shape 9"/>
          <p:cNvSpPr/>
          <p:nvPr/>
        </p:nvSpPr>
        <p:spPr>
          <a:xfrm>
            <a:off x="2093976" y="3337560"/>
            <a:ext cx="914400" cy="109728"/>
          </a:xfrm>
          <a:prstGeom prst="rect">
            <a:avLst/>
          </a:prstGeom>
          <a:solidFill>
            <a:srgbClr val="8795A8"/>
          </a:solidFill>
          <a:ln w="12700">
            <a:solidFill>
              <a:srgbClr val="8795A8"/>
            </a:solidFill>
            <a:prstDash val="solid"/>
          </a:ln>
        </p:spPr>
      </p:sp>
      <p:sp>
        <p:nvSpPr>
          <p:cNvPr id="12" name="Shape 10"/>
          <p:cNvSpPr/>
          <p:nvPr/>
        </p:nvSpPr>
        <p:spPr>
          <a:xfrm>
            <a:off x="2093976" y="3566160"/>
            <a:ext cx="640080" cy="109728"/>
          </a:xfrm>
          <a:prstGeom prst="rect">
            <a:avLst/>
          </a:prstGeom>
          <a:solidFill>
            <a:srgbClr val="8795A8"/>
          </a:solidFill>
          <a:ln w="12700">
            <a:solidFill>
              <a:srgbClr val="8795A8"/>
            </a:solidFill>
            <a:prstDash val="solid"/>
          </a:ln>
        </p:spPr>
      </p:sp>
      <p:sp>
        <p:nvSpPr>
          <p:cNvPr id="13" name="Shape 11"/>
          <p:cNvSpPr/>
          <p:nvPr/>
        </p:nvSpPr>
        <p:spPr>
          <a:xfrm>
            <a:off x="1152144" y="3172968"/>
            <a:ext cx="832104" cy="786384"/>
          </a:xfrm>
          <a:prstGeom prst="rect">
            <a:avLst/>
          </a:prstGeom>
          <a:solidFill>
            <a:srgbClr val="FF9F1C">
              <a:alpha val="25000"/>
            </a:srgbClr>
          </a:solidFill>
          <a:ln w="6350">
            <a:solidFill>
              <a:srgbClr val="FF9F1C"/>
            </a:solidFill>
            <a:prstDash val="solid"/>
          </a:ln>
        </p:spPr>
      </p:sp>
      <p:sp>
        <p:nvSpPr>
          <p:cNvPr id="14" name="Shape 12"/>
          <p:cNvSpPr/>
          <p:nvPr/>
        </p:nvSpPr>
        <p:spPr>
          <a:xfrm>
            <a:off x="1115568" y="3136392"/>
            <a:ext cx="182880" cy="0"/>
          </a:xfrm>
          <a:prstGeom prst="line">
            <a:avLst/>
          </a:prstGeom>
          <a:noFill/>
          <a:ln w="31750">
            <a:solidFill>
              <a:srgbClr val="FF9F1C"/>
            </a:solidFill>
            <a:prstDash val="solid"/>
          </a:ln>
        </p:spPr>
      </p:sp>
      <p:sp>
        <p:nvSpPr>
          <p:cNvPr id="15" name="Shape 13"/>
          <p:cNvSpPr/>
          <p:nvPr/>
        </p:nvSpPr>
        <p:spPr>
          <a:xfrm>
            <a:off x="1115568" y="3136392"/>
            <a:ext cx="0" cy="182880"/>
          </a:xfrm>
          <a:prstGeom prst="line">
            <a:avLst/>
          </a:prstGeom>
          <a:noFill/>
          <a:ln w="31750">
            <a:solidFill>
              <a:srgbClr val="FF9F1C"/>
            </a:solidFill>
            <a:prstDash val="solid"/>
          </a:ln>
        </p:spPr>
      </p:sp>
      <p:sp>
        <p:nvSpPr>
          <p:cNvPr id="16" name="Shape 14"/>
          <p:cNvSpPr/>
          <p:nvPr/>
        </p:nvSpPr>
        <p:spPr>
          <a:xfrm>
            <a:off x="1837944" y="3136392"/>
            <a:ext cx="182880" cy="0"/>
          </a:xfrm>
          <a:prstGeom prst="line">
            <a:avLst/>
          </a:prstGeom>
          <a:noFill/>
          <a:ln w="31750">
            <a:solidFill>
              <a:srgbClr val="FF9F1C"/>
            </a:solidFill>
            <a:prstDash val="solid"/>
          </a:ln>
        </p:spPr>
      </p:sp>
      <p:sp>
        <p:nvSpPr>
          <p:cNvPr id="17" name="Shape 15"/>
          <p:cNvSpPr/>
          <p:nvPr/>
        </p:nvSpPr>
        <p:spPr>
          <a:xfrm>
            <a:off x="2020824" y="3136392"/>
            <a:ext cx="0" cy="182880"/>
          </a:xfrm>
          <a:prstGeom prst="line">
            <a:avLst/>
          </a:prstGeom>
          <a:noFill/>
          <a:ln w="31750">
            <a:solidFill>
              <a:srgbClr val="FF9F1C"/>
            </a:solidFill>
            <a:prstDash val="solid"/>
          </a:ln>
        </p:spPr>
      </p:sp>
      <p:sp>
        <p:nvSpPr>
          <p:cNvPr id="18" name="Shape 16"/>
          <p:cNvSpPr/>
          <p:nvPr/>
        </p:nvSpPr>
        <p:spPr>
          <a:xfrm>
            <a:off x="1115568" y="3995928"/>
            <a:ext cx="182880" cy="0"/>
          </a:xfrm>
          <a:prstGeom prst="line">
            <a:avLst/>
          </a:prstGeom>
          <a:noFill/>
          <a:ln w="31750">
            <a:solidFill>
              <a:srgbClr val="FF9F1C"/>
            </a:solidFill>
            <a:prstDash val="solid"/>
          </a:ln>
        </p:spPr>
      </p:sp>
      <p:sp>
        <p:nvSpPr>
          <p:cNvPr id="19" name="Shape 17"/>
          <p:cNvSpPr/>
          <p:nvPr/>
        </p:nvSpPr>
        <p:spPr>
          <a:xfrm>
            <a:off x="1115568" y="3813048"/>
            <a:ext cx="0" cy="182880"/>
          </a:xfrm>
          <a:prstGeom prst="line">
            <a:avLst/>
          </a:prstGeom>
          <a:noFill/>
          <a:ln w="31750">
            <a:solidFill>
              <a:srgbClr val="FF9F1C"/>
            </a:solidFill>
            <a:prstDash val="solid"/>
          </a:ln>
        </p:spPr>
      </p:sp>
      <p:sp>
        <p:nvSpPr>
          <p:cNvPr id="20" name="Shape 18"/>
          <p:cNvSpPr/>
          <p:nvPr/>
        </p:nvSpPr>
        <p:spPr>
          <a:xfrm>
            <a:off x="1837944" y="3995928"/>
            <a:ext cx="182880" cy="0"/>
          </a:xfrm>
          <a:prstGeom prst="line">
            <a:avLst/>
          </a:prstGeom>
          <a:noFill/>
          <a:ln w="31750">
            <a:solidFill>
              <a:srgbClr val="FF9F1C"/>
            </a:solidFill>
            <a:prstDash val="solid"/>
          </a:ln>
        </p:spPr>
      </p:sp>
      <p:sp>
        <p:nvSpPr>
          <p:cNvPr id="21" name="Shape 19"/>
          <p:cNvSpPr/>
          <p:nvPr/>
        </p:nvSpPr>
        <p:spPr>
          <a:xfrm>
            <a:off x="2020824" y="3813048"/>
            <a:ext cx="0" cy="182880"/>
          </a:xfrm>
          <a:prstGeom prst="line">
            <a:avLst/>
          </a:prstGeom>
          <a:noFill/>
          <a:ln w="31750">
            <a:solidFill>
              <a:srgbClr val="FF9F1C"/>
            </a:solidFill>
            <a:prstDash val="solid"/>
          </a:ln>
        </p:spPr>
      </p:sp>
      <p:sp>
        <p:nvSpPr>
          <p:cNvPr id="22" name="Text 20"/>
          <p:cNvSpPr txBox="1"/>
          <p:nvPr/>
        </p:nvSpPr>
        <p:spPr>
          <a:xfrm>
            <a:off x="1088136" y="4133088"/>
            <a:ext cx="1280160" cy="256032"/>
          </a:xfrm>
          <a:prstGeom prst="rect">
            <a:avLst/>
          </a:prstGeom>
          <a:solidFill>
            <a:srgbClr val="FF9F1C"/>
          </a:solidFill>
          <a:ln/>
        </p:spPr>
        <p:txBody>
          <a:bodyPr wrap="square" lIns="0" tIns="0" rIns="0" bIns="0" rtlCol="0" anchor="ctr"/>
          <a:lstStyle/>
          <a:p>
            <a:pPr algn="ctr" indent="0" marL="0">
              <a:buNone/>
            </a:pPr>
            <a:r>
              <a:rPr lang="en-US" sz="1000" b="1" dirty="0">
                <a:solidFill>
                  <a:srgbClr val="0F1C2E"/>
                </a:solidFill>
                <a:latin typeface="Calibri" pitchFamily="34" charset="0"/>
                <a:ea typeface="Calibri" pitchFamily="34" charset="-122"/>
                <a:cs typeface="Calibri" pitchFamily="34" charset="-120"/>
              </a:rPr>
              <a:t>Drain filter</a:t>
            </a:r>
            <a:endParaRPr lang="en-US" sz="1000" dirty="0"/>
          </a:p>
        </p:txBody>
      </p:sp>
      <p:sp>
        <p:nvSpPr>
          <p:cNvPr id="23" name="Shape 21"/>
          <p:cNvSpPr/>
          <p:nvPr/>
        </p:nvSpPr>
        <p:spPr>
          <a:xfrm>
            <a:off x="1060704" y="4617720"/>
            <a:ext cx="2039112" cy="502920"/>
          </a:xfrm>
          <a:prstGeom prst="roundRect">
            <a:avLst>
              <a:gd name="adj" fmla="val 14545"/>
            </a:avLst>
          </a:prstGeom>
          <a:solidFill>
            <a:srgbClr val="3B4E68"/>
          </a:solidFill>
          <a:ln w="12700">
            <a:solidFill>
              <a:srgbClr val="3B4E68"/>
            </a:solidFill>
            <a:prstDash val="solid"/>
          </a:ln>
        </p:spPr>
      </p:sp>
      <p:sp>
        <p:nvSpPr>
          <p:cNvPr id="24" name="Text 22"/>
          <p:cNvSpPr txBox="1"/>
          <p:nvPr/>
        </p:nvSpPr>
        <p:spPr>
          <a:xfrm>
            <a:off x="1133856" y="4617720"/>
            <a:ext cx="1892808" cy="502920"/>
          </a:xfrm>
          <a:prstGeom prst="rect">
            <a:avLst/>
          </a:prstGeom>
          <a:noFill/>
          <a:ln/>
        </p:spPr>
        <p:txBody>
          <a:bodyPr wrap="square" lIns="0" tIns="0" rIns="0" bIns="0" rtlCol="0" anchor="ctr"/>
          <a:lstStyle/>
          <a:p>
            <a:pPr indent="0" marL="0">
              <a:buNone/>
            </a:pPr>
            <a:r>
              <a:rPr lang="en-US" sz="1000" dirty="0">
                <a:solidFill>
                  <a:srgbClr val="F6F1E7"/>
                </a:solidFill>
                <a:latin typeface="Calibri" pitchFamily="34" charset="0"/>
                <a:ea typeface="Calibri" pitchFamily="34" charset="-122"/>
                <a:cs typeface="Calibri" pitchFamily="34" charset="-120"/>
              </a:rPr>
              <a:t>You: “It says OE. What do I do?”</a:t>
            </a:r>
            <a:endParaRPr lang="en-US" sz="1000" dirty="0"/>
          </a:p>
        </p:txBody>
      </p:sp>
      <p:sp>
        <p:nvSpPr>
          <p:cNvPr id="25" name="Shape 23"/>
          <p:cNvSpPr/>
          <p:nvPr/>
        </p:nvSpPr>
        <p:spPr>
          <a:xfrm>
            <a:off x="1060704" y="5212080"/>
            <a:ext cx="2039112" cy="566928"/>
          </a:xfrm>
          <a:prstGeom prst="roundRect">
            <a:avLst>
              <a:gd name="adj" fmla="val 12903"/>
            </a:avLst>
          </a:prstGeom>
          <a:solidFill>
            <a:srgbClr val="F6F1E7"/>
          </a:solidFill>
          <a:ln w="12700">
            <a:solidFill>
              <a:srgbClr val="F6F1E7"/>
            </a:solidFill>
            <a:prstDash val="solid"/>
          </a:ln>
        </p:spPr>
      </p:sp>
      <p:sp>
        <p:nvSpPr>
          <p:cNvPr id="26" name="Text 24"/>
          <p:cNvSpPr txBox="1"/>
          <p:nvPr/>
        </p:nvSpPr>
        <p:spPr>
          <a:xfrm>
            <a:off x="1133856" y="5212080"/>
            <a:ext cx="1892808" cy="566928"/>
          </a:xfrm>
          <a:prstGeom prst="rect">
            <a:avLst/>
          </a:prstGeom>
          <a:noFill/>
          <a:ln/>
        </p:spPr>
        <p:txBody>
          <a:bodyPr wrap="square" lIns="0" tIns="0" rIns="0" bIns="0" rtlCol="0" anchor="ctr"/>
          <a:lstStyle/>
          <a:p>
            <a:pPr indent="0" marL="0">
              <a:buNone/>
            </a:pPr>
            <a:r>
              <a:rPr lang="en-US" sz="1000" dirty="0">
                <a:solidFill>
                  <a:srgbClr val="0F1C2E"/>
                </a:solidFill>
                <a:latin typeface="Calibri" pitchFamily="34" charset="0"/>
                <a:ea typeface="Calibri" pitchFamily="34" charset="-122"/>
                <a:cs typeface="Calibri" pitchFamily="34" charset="-120"/>
              </a:rPr>
              <a:t>Fixy: “Unplug it first. Then open this drain-filter cover.”</a:t>
            </a:r>
            <a:endParaRPr lang="en-US" sz="1000" dirty="0"/>
          </a:p>
        </p:txBody>
      </p:sp>
      <p:pic>
        <p:nvPicPr>
          <p:cNvPr id="27" name="Image 0" descr="/tmp/claude-1000/-home-shiva-ajay-3D-IQOO-Hackathon/5b3f47cb-8e93-474d-997b-1b20d1cf681e/scratchpad/deck/assets/fixy-pointing.png">    </p:cNvPr>
          <p:cNvPicPr>
            <a:picLocks noChangeAspect="1"/>
          </p:cNvPicPr>
          <p:nvPr/>
        </p:nvPicPr>
        <p:blipFill>
          <a:blip r:embed="rId1"/>
          <a:stretch>
            <a:fillRect/>
          </a:stretch>
        </p:blipFill>
        <p:spPr>
          <a:xfrm>
            <a:off x="3063240" y="4160520"/>
            <a:ext cx="1600200" cy="1600200"/>
          </a:xfrm>
          <a:prstGeom prst="rect">
            <a:avLst/>
          </a:prstGeom>
        </p:spPr>
      </p:pic>
      <p:sp>
        <p:nvSpPr>
          <p:cNvPr id="28" name="Shape 25"/>
          <p:cNvSpPr/>
          <p:nvPr/>
        </p:nvSpPr>
        <p:spPr>
          <a:xfrm>
            <a:off x="5074920" y="1453896"/>
            <a:ext cx="566928" cy="566928"/>
          </a:xfrm>
          <a:prstGeom prst="ellipse">
            <a:avLst/>
          </a:prstGeom>
          <a:solidFill>
            <a:srgbClr val="0F1C2E"/>
          </a:solidFill>
          <a:ln w="12700">
            <a:solidFill>
              <a:srgbClr val="0F1C2E"/>
            </a:solidFill>
            <a:prstDash val="solid"/>
          </a:ln>
        </p:spPr>
      </p:sp>
      <p:pic>
        <p:nvPicPr>
          <p:cNvPr id="29" name="Image 1" descr="preencoded.png">    </p:cNvPr>
          <p:cNvPicPr>
            <a:picLocks noChangeAspect="1"/>
          </p:cNvPicPr>
          <p:nvPr/>
        </p:nvPicPr>
        <p:blipFill>
          <a:blip r:embed="rId2"/>
          <a:stretch>
            <a:fillRect/>
          </a:stretch>
        </p:blipFill>
        <p:spPr>
          <a:xfrm>
            <a:off x="5212080" y="1591056"/>
            <a:ext cx="292608" cy="292608"/>
          </a:xfrm>
          <a:prstGeom prst="rect">
            <a:avLst/>
          </a:prstGeom>
        </p:spPr>
      </p:pic>
      <p:sp>
        <p:nvSpPr>
          <p:cNvPr id="30" name="Text 26"/>
          <p:cNvSpPr txBox="1"/>
          <p:nvPr/>
        </p:nvSpPr>
        <p:spPr>
          <a:xfrm>
            <a:off x="5852160" y="1417320"/>
            <a:ext cx="5760720" cy="329184"/>
          </a:xfrm>
          <a:prstGeom prst="rect">
            <a:avLst/>
          </a:prstGeom>
          <a:noFill/>
          <a:ln/>
        </p:spPr>
        <p:txBody>
          <a:bodyPr wrap="square" lIns="0" tIns="0" rIns="0" bIns="0" rtlCol="0" anchor="ctr"/>
          <a:lstStyle/>
          <a:p>
            <a:pPr indent="0" marL="0">
              <a:buNone/>
            </a:pPr>
            <a:r>
              <a:rPr lang="en-US" sz="1700" b="1" dirty="0">
                <a:solidFill>
                  <a:srgbClr val="0F1C2E"/>
                </a:solidFill>
                <a:latin typeface="Arial" pitchFamily="34" charset="0"/>
                <a:ea typeface="Arial" pitchFamily="34" charset="-122"/>
                <a:cs typeface="Arial" pitchFamily="34" charset="-120"/>
              </a:rPr>
              <a:t>Sees</a:t>
            </a:r>
            <a:endParaRPr lang="en-US" sz="1700" dirty="0"/>
          </a:p>
        </p:txBody>
      </p:sp>
      <p:sp>
        <p:nvSpPr>
          <p:cNvPr id="31" name="Text 27"/>
          <p:cNvSpPr txBox="1"/>
          <p:nvPr/>
        </p:nvSpPr>
        <p:spPr>
          <a:xfrm>
            <a:off x="5852160" y="1755648"/>
            <a:ext cx="5760720" cy="365760"/>
          </a:xfrm>
          <a:prstGeom prst="rect">
            <a:avLst/>
          </a:prstGeom>
          <a:noFill/>
          <a:ln/>
        </p:spPr>
        <p:txBody>
          <a:bodyPr wrap="square" lIns="0" tIns="0" rIns="0" bIns="0" rtlCol="0" anchor="ctr"/>
          <a:lstStyle/>
          <a:p>
            <a:pPr indent="0" marL="0">
              <a:buNone/>
            </a:pPr>
            <a:r>
              <a:rPr lang="en-US" sz="1400" dirty="0">
                <a:solidFill>
                  <a:srgbClr val="5B6B80"/>
                </a:solidFill>
                <a:latin typeface="Calibri" pitchFamily="34" charset="0"/>
                <a:ea typeface="Calibri" pitchFamily="34" charset="-122"/>
                <a:cs typeface="Calibri" pitchFamily="34" charset="-120"/>
              </a:rPr>
              <a:t>Reads the error code or the engine bay through the camera.</a:t>
            </a:r>
            <a:endParaRPr lang="en-US" sz="1400" dirty="0"/>
          </a:p>
        </p:txBody>
      </p:sp>
      <p:sp>
        <p:nvSpPr>
          <p:cNvPr id="32" name="Shape 28"/>
          <p:cNvSpPr/>
          <p:nvPr/>
        </p:nvSpPr>
        <p:spPr>
          <a:xfrm>
            <a:off x="5074920" y="2304288"/>
            <a:ext cx="566928" cy="566928"/>
          </a:xfrm>
          <a:prstGeom prst="ellipse">
            <a:avLst/>
          </a:prstGeom>
          <a:solidFill>
            <a:srgbClr val="0F1C2E"/>
          </a:solidFill>
          <a:ln w="12700">
            <a:solidFill>
              <a:srgbClr val="0F1C2E"/>
            </a:solidFill>
            <a:prstDash val="solid"/>
          </a:ln>
        </p:spPr>
      </p:sp>
      <p:pic>
        <p:nvPicPr>
          <p:cNvPr id="33" name="Image 2" descr="preencoded.png">    </p:cNvPr>
          <p:cNvPicPr>
            <a:picLocks noChangeAspect="1"/>
          </p:cNvPicPr>
          <p:nvPr/>
        </p:nvPicPr>
        <p:blipFill>
          <a:blip r:embed="rId3"/>
          <a:stretch>
            <a:fillRect/>
          </a:stretch>
        </p:blipFill>
        <p:spPr>
          <a:xfrm>
            <a:off x="5212080" y="2441448"/>
            <a:ext cx="292608" cy="292608"/>
          </a:xfrm>
          <a:prstGeom prst="rect">
            <a:avLst/>
          </a:prstGeom>
        </p:spPr>
      </p:pic>
      <p:sp>
        <p:nvSpPr>
          <p:cNvPr id="34" name="Text 29"/>
          <p:cNvSpPr txBox="1"/>
          <p:nvPr/>
        </p:nvSpPr>
        <p:spPr>
          <a:xfrm>
            <a:off x="5852160" y="2267712"/>
            <a:ext cx="5760720" cy="329184"/>
          </a:xfrm>
          <a:prstGeom prst="rect">
            <a:avLst/>
          </a:prstGeom>
          <a:noFill/>
          <a:ln/>
        </p:spPr>
        <p:txBody>
          <a:bodyPr wrap="square" lIns="0" tIns="0" rIns="0" bIns="0" rtlCol="0" anchor="ctr"/>
          <a:lstStyle/>
          <a:p>
            <a:pPr indent="0" marL="0">
              <a:buNone/>
            </a:pPr>
            <a:r>
              <a:rPr lang="en-US" sz="1700" b="1" dirty="0">
                <a:solidFill>
                  <a:srgbClr val="0F1C2E"/>
                </a:solidFill>
                <a:latin typeface="Arial" pitchFamily="34" charset="0"/>
                <a:ea typeface="Arial" pitchFamily="34" charset="-122"/>
                <a:cs typeface="Arial" pitchFamily="34" charset="-120"/>
              </a:rPr>
              <a:t>Listens</a:t>
            </a:r>
            <a:endParaRPr lang="en-US" sz="1700" dirty="0"/>
          </a:p>
        </p:txBody>
      </p:sp>
      <p:sp>
        <p:nvSpPr>
          <p:cNvPr id="35" name="Text 30"/>
          <p:cNvSpPr txBox="1"/>
          <p:nvPr/>
        </p:nvSpPr>
        <p:spPr>
          <a:xfrm>
            <a:off x="5852160" y="2606040"/>
            <a:ext cx="5760720" cy="365760"/>
          </a:xfrm>
          <a:prstGeom prst="rect">
            <a:avLst/>
          </a:prstGeom>
          <a:noFill/>
          <a:ln/>
        </p:spPr>
        <p:txBody>
          <a:bodyPr wrap="square" lIns="0" tIns="0" rIns="0" bIns="0" rtlCol="0" anchor="ctr"/>
          <a:lstStyle/>
          <a:p>
            <a:pPr indent="0" marL="0">
              <a:buNone/>
            </a:pPr>
            <a:r>
              <a:rPr lang="en-US" sz="1400" dirty="0">
                <a:solidFill>
                  <a:srgbClr val="5B6B80"/>
                </a:solidFill>
                <a:latin typeface="Calibri" pitchFamily="34" charset="0"/>
                <a:ea typeface="Calibri" pitchFamily="34" charset="-122"/>
                <a:cs typeface="Calibri" pitchFamily="34" charset="-120"/>
              </a:rPr>
              <a:t>Ask out loud, hands-free. Your hands stay on the machine.</a:t>
            </a:r>
            <a:endParaRPr lang="en-US" sz="1400" dirty="0"/>
          </a:p>
        </p:txBody>
      </p:sp>
      <p:sp>
        <p:nvSpPr>
          <p:cNvPr id="36" name="Shape 31"/>
          <p:cNvSpPr/>
          <p:nvPr/>
        </p:nvSpPr>
        <p:spPr>
          <a:xfrm>
            <a:off x="5074920" y="3154680"/>
            <a:ext cx="566928" cy="566928"/>
          </a:xfrm>
          <a:prstGeom prst="ellipse">
            <a:avLst/>
          </a:prstGeom>
          <a:solidFill>
            <a:srgbClr val="0F1C2E"/>
          </a:solidFill>
          <a:ln w="12700">
            <a:solidFill>
              <a:srgbClr val="0F1C2E"/>
            </a:solidFill>
            <a:prstDash val="solid"/>
          </a:ln>
        </p:spPr>
      </p:sp>
      <p:pic>
        <p:nvPicPr>
          <p:cNvPr id="37" name="Image 3" descr="preencoded.png">    </p:cNvPr>
          <p:cNvPicPr>
            <a:picLocks noChangeAspect="1"/>
          </p:cNvPicPr>
          <p:nvPr/>
        </p:nvPicPr>
        <p:blipFill>
          <a:blip r:embed="rId4"/>
          <a:stretch>
            <a:fillRect/>
          </a:stretch>
        </p:blipFill>
        <p:spPr>
          <a:xfrm>
            <a:off x="5212080" y="3291840"/>
            <a:ext cx="292608" cy="292608"/>
          </a:xfrm>
          <a:prstGeom prst="rect">
            <a:avLst/>
          </a:prstGeom>
        </p:spPr>
      </p:pic>
      <p:sp>
        <p:nvSpPr>
          <p:cNvPr id="38" name="Text 32"/>
          <p:cNvSpPr txBox="1"/>
          <p:nvPr/>
        </p:nvSpPr>
        <p:spPr>
          <a:xfrm>
            <a:off x="5852160" y="3118104"/>
            <a:ext cx="5760720" cy="329184"/>
          </a:xfrm>
          <a:prstGeom prst="rect">
            <a:avLst/>
          </a:prstGeom>
          <a:noFill/>
          <a:ln/>
        </p:spPr>
        <p:txBody>
          <a:bodyPr wrap="square" lIns="0" tIns="0" rIns="0" bIns="0" rtlCol="0" anchor="ctr"/>
          <a:lstStyle/>
          <a:p>
            <a:pPr indent="0" marL="0">
              <a:buNone/>
            </a:pPr>
            <a:r>
              <a:rPr lang="en-US" sz="1700" b="1" dirty="0">
                <a:solidFill>
                  <a:srgbClr val="0F1C2E"/>
                </a:solidFill>
                <a:latin typeface="Arial" pitchFamily="34" charset="0"/>
                <a:ea typeface="Arial" pitchFamily="34" charset="-122"/>
                <a:cs typeface="Arial" pitchFamily="34" charset="-120"/>
              </a:rPr>
              <a:t>Points</a:t>
            </a:r>
            <a:endParaRPr lang="en-US" sz="1700" dirty="0"/>
          </a:p>
        </p:txBody>
      </p:sp>
      <p:sp>
        <p:nvSpPr>
          <p:cNvPr id="39" name="Text 33"/>
          <p:cNvSpPr txBox="1"/>
          <p:nvPr/>
        </p:nvSpPr>
        <p:spPr>
          <a:xfrm>
            <a:off x="5852160" y="3456432"/>
            <a:ext cx="5760720" cy="365760"/>
          </a:xfrm>
          <a:prstGeom prst="rect">
            <a:avLst/>
          </a:prstGeom>
          <a:noFill/>
          <a:ln/>
        </p:spPr>
        <p:txBody>
          <a:bodyPr wrap="square" lIns="0" tIns="0" rIns="0" bIns="0" rtlCol="0" anchor="ctr"/>
          <a:lstStyle/>
          <a:p>
            <a:pPr indent="0" marL="0">
              <a:buNone/>
            </a:pPr>
            <a:r>
              <a:rPr lang="en-US" sz="1400" dirty="0">
                <a:solidFill>
                  <a:srgbClr val="5B6B80"/>
                </a:solidFill>
                <a:latin typeface="Calibri" pitchFamily="34" charset="0"/>
                <a:ea typeface="Calibri" pitchFamily="34" charset="-122"/>
                <a:cs typeface="Calibri" pitchFamily="34" charset="-120"/>
              </a:rPr>
              <a:t>Puts a marker on the exact part, and it stays locked on as you move.</a:t>
            </a:r>
            <a:endParaRPr lang="en-US" sz="1400" dirty="0"/>
          </a:p>
        </p:txBody>
      </p:sp>
      <p:sp>
        <p:nvSpPr>
          <p:cNvPr id="40" name="Shape 34"/>
          <p:cNvSpPr/>
          <p:nvPr/>
        </p:nvSpPr>
        <p:spPr>
          <a:xfrm>
            <a:off x="5074920" y="4005072"/>
            <a:ext cx="566928" cy="566928"/>
          </a:xfrm>
          <a:prstGeom prst="ellipse">
            <a:avLst/>
          </a:prstGeom>
          <a:solidFill>
            <a:srgbClr val="0F1C2E"/>
          </a:solidFill>
          <a:ln w="12700">
            <a:solidFill>
              <a:srgbClr val="0F1C2E"/>
            </a:solidFill>
            <a:prstDash val="solid"/>
          </a:ln>
        </p:spPr>
      </p:sp>
      <p:pic>
        <p:nvPicPr>
          <p:cNvPr id="41" name="Image 4" descr="preencoded.png">    </p:cNvPr>
          <p:cNvPicPr>
            <a:picLocks noChangeAspect="1"/>
          </p:cNvPicPr>
          <p:nvPr/>
        </p:nvPicPr>
        <p:blipFill>
          <a:blip r:embed="rId5"/>
          <a:stretch>
            <a:fillRect/>
          </a:stretch>
        </p:blipFill>
        <p:spPr>
          <a:xfrm>
            <a:off x="5212080" y="4142232"/>
            <a:ext cx="292608" cy="292608"/>
          </a:xfrm>
          <a:prstGeom prst="rect">
            <a:avLst/>
          </a:prstGeom>
        </p:spPr>
      </p:pic>
      <p:sp>
        <p:nvSpPr>
          <p:cNvPr id="42" name="Text 35"/>
          <p:cNvSpPr txBox="1"/>
          <p:nvPr/>
        </p:nvSpPr>
        <p:spPr>
          <a:xfrm>
            <a:off x="5852160" y="3968496"/>
            <a:ext cx="5760720" cy="329184"/>
          </a:xfrm>
          <a:prstGeom prst="rect">
            <a:avLst/>
          </a:prstGeom>
          <a:noFill/>
          <a:ln/>
        </p:spPr>
        <p:txBody>
          <a:bodyPr wrap="square" lIns="0" tIns="0" rIns="0" bIns="0" rtlCol="0" anchor="ctr"/>
          <a:lstStyle/>
          <a:p>
            <a:pPr indent="0" marL="0">
              <a:buNone/>
            </a:pPr>
            <a:r>
              <a:rPr lang="en-US" sz="1700" b="1" dirty="0">
                <a:solidFill>
                  <a:srgbClr val="0F1C2E"/>
                </a:solidFill>
                <a:latin typeface="Arial" pitchFamily="34" charset="0"/>
                <a:ea typeface="Arial" pitchFamily="34" charset="-122"/>
                <a:cs typeface="Arial" pitchFamily="34" charset="-120"/>
              </a:rPr>
              <a:t>Talks you through it</a:t>
            </a:r>
            <a:endParaRPr lang="en-US" sz="1700" dirty="0"/>
          </a:p>
        </p:txBody>
      </p:sp>
      <p:sp>
        <p:nvSpPr>
          <p:cNvPr id="43" name="Text 36"/>
          <p:cNvSpPr txBox="1"/>
          <p:nvPr/>
        </p:nvSpPr>
        <p:spPr>
          <a:xfrm>
            <a:off x="5852160" y="4306824"/>
            <a:ext cx="5760720" cy="365760"/>
          </a:xfrm>
          <a:prstGeom prst="rect">
            <a:avLst/>
          </a:prstGeom>
          <a:noFill/>
          <a:ln/>
        </p:spPr>
        <p:txBody>
          <a:bodyPr wrap="square" lIns="0" tIns="0" rIns="0" bIns="0" rtlCol="0" anchor="ctr"/>
          <a:lstStyle/>
          <a:p>
            <a:pPr indent="0" marL="0">
              <a:buNone/>
            </a:pPr>
            <a:r>
              <a:rPr lang="en-US" sz="1400" dirty="0">
                <a:solidFill>
                  <a:srgbClr val="5B6B80"/>
                </a:solidFill>
                <a:latin typeface="Calibri" pitchFamily="34" charset="0"/>
                <a:ea typeface="Calibri" pitchFamily="34" charset="-122"/>
                <a:cs typeface="Calibri" pitchFamily="34" charset="-120"/>
              </a:rPr>
              <a:t>One verified step at a time. Say “done” to go to the next.</a:t>
            </a:r>
            <a:endParaRPr lang="en-US" sz="1400" dirty="0"/>
          </a:p>
        </p:txBody>
      </p:sp>
      <p:sp>
        <p:nvSpPr>
          <p:cNvPr id="44" name="Shape 37"/>
          <p:cNvSpPr/>
          <p:nvPr/>
        </p:nvSpPr>
        <p:spPr>
          <a:xfrm>
            <a:off x="5074920" y="4855464"/>
            <a:ext cx="566928" cy="566928"/>
          </a:xfrm>
          <a:prstGeom prst="ellipse">
            <a:avLst/>
          </a:prstGeom>
          <a:solidFill>
            <a:srgbClr val="0F1C2E"/>
          </a:solidFill>
          <a:ln w="12700">
            <a:solidFill>
              <a:srgbClr val="0F1C2E"/>
            </a:solidFill>
            <a:prstDash val="solid"/>
          </a:ln>
        </p:spPr>
      </p:sp>
      <p:pic>
        <p:nvPicPr>
          <p:cNvPr id="45" name="Image 5" descr="preencoded.png">    </p:cNvPr>
          <p:cNvPicPr>
            <a:picLocks noChangeAspect="1"/>
          </p:cNvPicPr>
          <p:nvPr/>
        </p:nvPicPr>
        <p:blipFill>
          <a:blip r:embed="rId6"/>
          <a:stretch>
            <a:fillRect/>
          </a:stretch>
        </p:blipFill>
        <p:spPr>
          <a:xfrm>
            <a:off x="5212080" y="4992624"/>
            <a:ext cx="292608" cy="292608"/>
          </a:xfrm>
          <a:prstGeom prst="rect">
            <a:avLst/>
          </a:prstGeom>
        </p:spPr>
      </p:pic>
      <p:sp>
        <p:nvSpPr>
          <p:cNvPr id="46" name="Text 38"/>
          <p:cNvSpPr txBox="1"/>
          <p:nvPr/>
        </p:nvSpPr>
        <p:spPr>
          <a:xfrm>
            <a:off x="5852160" y="4818888"/>
            <a:ext cx="5760720" cy="329184"/>
          </a:xfrm>
          <a:prstGeom prst="rect">
            <a:avLst/>
          </a:prstGeom>
          <a:noFill/>
          <a:ln/>
        </p:spPr>
        <p:txBody>
          <a:bodyPr wrap="square" lIns="0" tIns="0" rIns="0" bIns="0" rtlCol="0" anchor="ctr"/>
          <a:lstStyle/>
          <a:p>
            <a:pPr indent="0" marL="0">
              <a:buNone/>
            </a:pPr>
            <a:r>
              <a:rPr lang="en-US" sz="1700" b="1" dirty="0">
                <a:solidFill>
                  <a:srgbClr val="0F1C2E"/>
                </a:solidFill>
                <a:latin typeface="Arial" pitchFamily="34" charset="0"/>
                <a:ea typeface="Arial" pitchFamily="34" charset="-122"/>
                <a:cs typeface="Arial" pitchFamily="34" charset="-120"/>
              </a:rPr>
              <a:t>Knows its limits</a:t>
            </a:r>
            <a:endParaRPr lang="en-US" sz="1700" dirty="0"/>
          </a:p>
        </p:txBody>
      </p:sp>
      <p:sp>
        <p:nvSpPr>
          <p:cNvPr id="47" name="Text 39"/>
          <p:cNvSpPr txBox="1"/>
          <p:nvPr/>
        </p:nvSpPr>
        <p:spPr>
          <a:xfrm>
            <a:off x="5852160" y="5157216"/>
            <a:ext cx="5760720" cy="365760"/>
          </a:xfrm>
          <a:prstGeom prst="rect">
            <a:avLst/>
          </a:prstGeom>
          <a:noFill/>
          <a:ln/>
        </p:spPr>
        <p:txBody>
          <a:bodyPr wrap="square" lIns="0" tIns="0" rIns="0" bIns="0" rtlCol="0" anchor="ctr"/>
          <a:lstStyle/>
          <a:p>
            <a:pPr indent="0" marL="0">
              <a:buNone/>
            </a:pPr>
            <a:r>
              <a:rPr lang="en-US" sz="1400" dirty="0">
                <a:solidFill>
                  <a:srgbClr val="5B6B80"/>
                </a:solidFill>
                <a:latin typeface="Calibri" pitchFamily="34" charset="0"/>
                <a:ea typeface="Calibri" pitchFamily="34" charset="-122"/>
                <a:cs typeface="Calibri" pitchFamily="34" charset="-120"/>
              </a:rPr>
              <a:t>Refuses when unsure. Sends dangerous jobs to a technician.</a:t>
            </a:r>
            <a:endParaRPr lang="en-US" sz="1400" dirty="0"/>
          </a:p>
        </p:txBody>
      </p:sp>
      <p:sp>
        <p:nvSpPr>
          <p:cNvPr id="48" name="Shape 40"/>
          <p:cNvSpPr/>
          <p:nvPr/>
        </p:nvSpPr>
        <p:spPr>
          <a:xfrm>
            <a:off x="5074920" y="5715000"/>
            <a:ext cx="4754880" cy="457200"/>
          </a:xfrm>
          <a:prstGeom prst="roundRect">
            <a:avLst>
              <a:gd name="adj" fmla="val 50000"/>
            </a:avLst>
          </a:prstGeom>
          <a:solidFill>
            <a:srgbClr val="0F1C2E"/>
          </a:solidFill>
          <a:ln w="12700">
            <a:solidFill>
              <a:srgbClr val="0F1C2E"/>
            </a:solidFill>
            <a:prstDash val="solid"/>
          </a:ln>
        </p:spPr>
      </p:sp>
      <p:pic>
        <p:nvPicPr>
          <p:cNvPr id="49" name="Image 6" descr="preencoded.png">    </p:cNvPr>
          <p:cNvPicPr>
            <a:picLocks noChangeAspect="1"/>
          </p:cNvPicPr>
          <p:nvPr/>
        </p:nvPicPr>
        <p:blipFill>
          <a:blip r:embed="rId7"/>
          <a:stretch>
            <a:fillRect/>
          </a:stretch>
        </p:blipFill>
        <p:spPr>
          <a:xfrm>
            <a:off x="5303520" y="5824728"/>
            <a:ext cx="237744" cy="237744"/>
          </a:xfrm>
          <a:prstGeom prst="rect">
            <a:avLst/>
          </a:prstGeom>
        </p:spPr>
      </p:pic>
      <p:sp>
        <p:nvSpPr>
          <p:cNvPr id="50" name="Text 41"/>
          <p:cNvSpPr txBox="1"/>
          <p:nvPr/>
        </p:nvSpPr>
        <p:spPr>
          <a:xfrm>
            <a:off x="5669280" y="5715000"/>
            <a:ext cx="4114800" cy="457200"/>
          </a:xfrm>
          <a:prstGeom prst="rect">
            <a:avLst/>
          </a:prstGeom>
          <a:noFill/>
          <a:ln/>
        </p:spPr>
        <p:txBody>
          <a:bodyPr wrap="square" lIns="0" tIns="0" rIns="0" bIns="0" rtlCol="0" anchor="ctr"/>
          <a:lstStyle/>
          <a:p>
            <a:pPr indent="0" marL="0">
              <a:buNone/>
            </a:pPr>
            <a:r>
              <a:rPr lang="en-US" sz="1400" b="1" dirty="0">
                <a:solidFill>
                  <a:srgbClr val="F6F1E7"/>
                </a:solidFill>
                <a:latin typeface="Calibri" pitchFamily="34" charset="0"/>
                <a:ea typeface="Calibri" pitchFamily="34" charset="-122"/>
                <a:cs typeface="Calibri" pitchFamily="34" charset="-120"/>
              </a:rPr>
              <a:t>100% on the phone. Works in airplane mode.</a:t>
            </a:r>
            <a:endParaRPr lang="en-US" sz="1400" dirty="0"/>
          </a:p>
        </p:txBody>
      </p:sp>
      <p:pic>
        <p:nvPicPr>
          <p:cNvPr id="51" name="Image 7" descr="/tmp/claude-1000/-home-shiva-ajay-3D-IQOO-Hackathon/5b3f47cb-8e93-474d-997b-1b20d1cf681e/scratchpad/deck/assets/fixlens-logo.png">    </p:cNvPr>
          <p:cNvPicPr>
            <a:picLocks noChangeAspect="1"/>
          </p:cNvPicPr>
          <p:nvPr/>
        </p:nvPicPr>
        <p:blipFill>
          <a:blip r:embed="rId8"/>
          <a:stretch>
            <a:fillRect/>
          </a:stretch>
        </p:blipFill>
        <p:spPr>
          <a:xfrm>
            <a:off x="10378440" y="6355080"/>
            <a:ext cx="1234440" cy="365760"/>
          </a:xfrm>
          <a:prstGeom prst="rect">
            <a:avLst/>
          </a:prstGeom>
        </p:spPr>
      </p:pic>
      <p:sp>
        <p:nvSpPr>
          <p:cNvPr id="52" name="Text 42"/>
          <p:cNvSpPr txBox="1"/>
          <p:nvPr/>
        </p:nvSpPr>
        <p:spPr>
          <a:xfrm>
            <a:off x="548640" y="6355080"/>
            <a:ext cx="457200" cy="365760"/>
          </a:xfrm>
          <a:prstGeom prst="rect">
            <a:avLst/>
          </a:prstGeom>
          <a:noFill/>
          <a:ln/>
        </p:spPr>
        <p:txBody>
          <a:bodyPr wrap="square" lIns="0" tIns="0" rIns="0" bIns="0" rtlCol="0" anchor="ctr"/>
          <a:lstStyle/>
          <a:p>
            <a:pPr indent="0" marL="0">
              <a:buNone/>
            </a:pPr>
            <a:r>
              <a:rPr lang="en-US" sz="1100" dirty="0">
                <a:solidFill>
                  <a:srgbClr val="5B6B80"/>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5B6B80"/>
                </a:solidFill>
                <a:latin typeface="Calibri" pitchFamily="34" charset="0"/>
                <a:ea typeface="Calibri" pitchFamily="34" charset="-122"/>
                <a:cs typeface="Calibri" pitchFamily="34" charset="-120"/>
              </a:rPr>
              <a:t>ARCHITECTURE</a:t>
            </a:r>
            <a:endParaRPr lang="en-US" sz="1200" dirty="0"/>
          </a:p>
        </p:txBody>
      </p:sp>
      <p:sp>
        <p:nvSpPr>
          <p:cNvPr id="3" name="Text 1"/>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400" b="1" dirty="0">
                <a:solidFill>
                  <a:srgbClr val="0F1C2E"/>
                </a:solidFill>
                <a:latin typeface="Arial" pitchFamily="34" charset="0"/>
                <a:ea typeface="Arial" pitchFamily="34" charset="-122"/>
                <a:cs typeface="Arial" pitchFamily="34" charset="-120"/>
              </a:rPr>
              <a:t>Two speeds: a slow brain and fast eyes</a:t>
            </a:r>
            <a:endParaRPr lang="en-US" sz="3400" dirty="0"/>
          </a:p>
        </p:txBody>
      </p:sp>
      <p:sp>
        <p:nvSpPr>
          <p:cNvPr id="4" name="Shape 2"/>
          <p:cNvSpPr/>
          <p:nvPr/>
        </p:nvSpPr>
        <p:spPr>
          <a:xfrm>
            <a:off x="548640" y="1463040"/>
            <a:ext cx="2468880" cy="868680"/>
          </a:xfrm>
          <a:prstGeom prst="roundRect">
            <a:avLst>
              <a:gd name="adj" fmla="val 10526"/>
            </a:avLst>
          </a:prstGeom>
          <a:solidFill>
            <a:srgbClr val="FFFFFF"/>
          </a:solidFill>
          <a:ln w="19050">
            <a:solidFill>
              <a:srgbClr val="0F1C2E"/>
            </a:solidFill>
            <a:prstDash val="solid"/>
          </a:ln>
        </p:spPr>
      </p:sp>
      <p:sp>
        <p:nvSpPr>
          <p:cNvPr id="5" name="Text 3"/>
          <p:cNvSpPr txBox="1"/>
          <p:nvPr/>
        </p:nvSpPr>
        <p:spPr>
          <a:xfrm>
            <a:off x="658368" y="1463040"/>
            <a:ext cx="2249424" cy="868680"/>
          </a:xfrm>
          <a:prstGeom prst="rect">
            <a:avLst/>
          </a:prstGeom>
          <a:noFill/>
          <a:ln/>
        </p:spPr>
        <p:txBody>
          <a:bodyPr wrap="square" lIns="0" tIns="0" rIns="0" bIns="0" rtlCol="0" anchor="ctr"/>
          <a:lstStyle/>
          <a:p>
            <a:pPr indent="0" marL="0">
              <a:buNone/>
            </a:pPr>
            <a:r>
              <a:rPr lang="en-US" sz="1400" b="1" dirty="0">
                <a:solidFill>
                  <a:srgbClr val="0F1C2E"/>
                </a:solidFill>
                <a:latin typeface="Arial" pitchFamily="34" charset="0"/>
                <a:ea typeface="Arial" pitchFamily="34" charset="-122"/>
                <a:cs typeface="Arial" pitchFamily="34" charset="-120"/>
              </a:rPr>
              <a:t>Voice in</a:t>
            </a:r>
            <a:endParaRPr lang="en-US" sz="1400" dirty="0"/>
          </a:p>
          <a:p>
            <a:pPr indent="0" marL="0">
              <a:buNone/>
            </a:pPr>
            <a:r>
              <a:rPr lang="en-US" sz="1100" dirty="0">
                <a:solidFill>
                  <a:srgbClr val="5B6B80"/>
                </a:solidFill>
                <a:latin typeface="Calibri" pitchFamily="34" charset="0"/>
                <a:ea typeface="Calibri" pitchFamily="34" charset="-122"/>
                <a:cs typeface="Calibri" pitchFamily="34" charset="-120"/>
              </a:rPr>
              <a:t>Tap-to-talk → Silero VAD → Moonshine speech-to-text</a:t>
            </a:r>
            <a:endParaRPr lang="en-US" sz="1400" dirty="0"/>
          </a:p>
        </p:txBody>
      </p:sp>
      <p:sp>
        <p:nvSpPr>
          <p:cNvPr id="6" name="Shape 4"/>
          <p:cNvSpPr/>
          <p:nvPr/>
        </p:nvSpPr>
        <p:spPr>
          <a:xfrm>
            <a:off x="548640" y="2788920"/>
            <a:ext cx="2468880" cy="868680"/>
          </a:xfrm>
          <a:prstGeom prst="roundRect">
            <a:avLst>
              <a:gd name="adj" fmla="val 10526"/>
            </a:avLst>
          </a:prstGeom>
          <a:solidFill>
            <a:srgbClr val="FFFFFF"/>
          </a:solidFill>
          <a:ln w="19050">
            <a:solidFill>
              <a:srgbClr val="0F1C2E"/>
            </a:solidFill>
            <a:prstDash val="solid"/>
          </a:ln>
        </p:spPr>
      </p:sp>
      <p:sp>
        <p:nvSpPr>
          <p:cNvPr id="7" name="Text 5"/>
          <p:cNvSpPr txBox="1"/>
          <p:nvPr/>
        </p:nvSpPr>
        <p:spPr>
          <a:xfrm>
            <a:off x="658368" y="2788920"/>
            <a:ext cx="2249424" cy="868680"/>
          </a:xfrm>
          <a:prstGeom prst="rect">
            <a:avLst/>
          </a:prstGeom>
          <a:noFill/>
          <a:ln/>
        </p:spPr>
        <p:txBody>
          <a:bodyPr wrap="square" lIns="0" tIns="0" rIns="0" bIns="0" rtlCol="0" anchor="ctr"/>
          <a:lstStyle/>
          <a:p>
            <a:pPr indent="0" marL="0">
              <a:buNone/>
            </a:pPr>
            <a:r>
              <a:rPr lang="en-US" sz="1400" b="1" dirty="0">
                <a:solidFill>
                  <a:srgbClr val="0F1C2E"/>
                </a:solidFill>
                <a:latin typeface="Arial" pitchFamily="34" charset="0"/>
                <a:ea typeface="Arial" pitchFamily="34" charset="-122"/>
                <a:cs typeface="Arial" pitchFamily="34" charset="-120"/>
              </a:rPr>
              <a:t>Knowledge base</a:t>
            </a:r>
            <a:endParaRPr lang="en-US" sz="1400" dirty="0"/>
          </a:p>
          <a:p>
            <a:pPr indent="0" marL="0">
              <a:buNone/>
            </a:pPr>
            <a:r>
              <a:rPr lang="en-US" sz="1100" dirty="0">
                <a:solidFill>
                  <a:srgbClr val="5B6B80"/>
                </a:solidFill>
                <a:latin typeface="Calibri" pitchFamily="34" charset="0"/>
                <a:ea typeface="Calibri" pitchFamily="34" charset="-122"/>
                <a:cs typeface="Calibri" pitchFamily="34" charset="-120"/>
              </a:rPr>
              <a:t>Verified repair steps (JSON), exact code lookup</a:t>
            </a:r>
            <a:endParaRPr lang="en-US" sz="1400" dirty="0"/>
          </a:p>
        </p:txBody>
      </p:sp>
      <p:sp>
        <p:nvSpPr>
          <p:cNvPr id="8" name="Shape 6"/>
          <p:cNvSpPr/>
          <p:nvPr/>
        </p:nvSpPr>
        <p:spPr>
          <a:xfrm>
            <a:off x="548640" y="4206240"/>
            <a:ext cx="2468880" cy="868680"/>
          </a:xfrm>
          <a:prstGeom prst="roundRect">
            <a:avLst>
              <a:gd name="adj" fmla="val 10526"/>
            </a:avLst>
          </a:prstGeom>
          <a:solidFill>
            <a:srgbClr val="FFF1DD"/>
          </a:solidFill>
          <a:ln w="19050">
            <a:solidFill>
              <a:srgbClr val="FF9F1C"/>
            </a:solidFill>
            <a:prstDash val="solid"/>
          </a:ln>
        </p:spPr>
      </p:sp>
      <p:sp>
        <p:nvSpPr>
          <p:cNvPr id="9" name="Text 7"/>
          <p:cNvSpPr txBox="1"/>
          <p:nvPr/>
        </p:nvSpPr>
        <p:spPr>
          <a:xfrm>
            <a:off x="658368" y="4206240"/>
            <a:ext cx="2249424" cy="868680"/>
          </a:xfrm>
          <a:prstGeom prst="rect">
            <a:avLst/>
          </a:prstGeom>
          <a:noFill/>
          <a:ln/>
        </p:spPr>
        <p:txBody>
          <a:bodyPr wrap="square" lIns="0" tIns="0" rIns="0" bIns="0" rtlCol="0" anchor="ctr"/>
          <a:lstStyle/>
          <a:p>
            <a:pPr indent="0" marL="0">
              <a:buNone/>
            </a:pPr>
            <a:r>
              <a:rPr lang="en-US" sz="1400" b="1" dirty="0">
                <a:solidFill>
                  <a:srgbClr val="0F1C2E"/>
                </a:solidFill>
                <a:latin typeface="Arial" pitchFamily="34" charset="0"/>
                <a:ea typeface="Arial" pitchFamily="34" charset="-122"/>
                <a:cs typeface="Arial" pitchFamily="34" charset="-120"/>
              </a:rPr>
              <a:t>Camera + frame buffer</a:t>
            </a:r>
            <a:endParaRPr lang="en-US" sz="1400" dirty="0"/>
          </a:p>
          <a:p>
            <a:pPr indent="0" marL="0">
              <a:buNone/>
            </a:pPr>
            <a:r>
              <a:rPr lang="en-US" sz="1100" dirty="0">
                <a:solidFill>
                  <a:srgbClr val="6B5A40"/>
                </a:solidFill>
                <a:latin typeface="Calibri" pitchFamily="34" charset="0"/>
                <a:ea typeface="Calibri" pitchFamily="34" charset="-122"/>
                <a:cs typeface="Calibri" pitchFamily="34" charset="-120"/>
              </a:rPr>
              <a:t>CameraX 30 fps, keeps last ~3 s</a:t>
            </a:r>
            <a:endParaRPr lang="en-US" sz="1400" dirty="0"/>
          </a:p>
        </p:txBody>
      </p:sp>
      <p:sp>
        <p:nvSpPr>
          <p:cNvPr id="10" name="Shape 8"/>
          <p:cNvSpPr/>
          <p:nvPr/>
        </p:nvSpPr>
        <p:spPr>
          <a:xfrm>
            <a:off x="3657600" y="1463040"/>
            <a:ext cx="2377440" cy="2194560"/>
          </a:xfrm>
          <a:prstGeom prst="roundRect">
            <a:avLst>
              <a:gd name="adj" fmla="val 4167"/>
            </a:avLst>
          </a:prstGeom>
          <a:solidFill>
            <a:srgbClr val="0F1C2E"/>
          </a:solidFill>
          <a:ln w="19050">
            <a:solidFill>
              <a:srgbClr val="0F1C2E"/>
            </a:solidFill>
            <a:prstDash val="solid"/>
          </a:ln>
        </p:spPr>
      </p:sp>
      <p:sp>
        <p:nvSpPr>
          <p:cNvPr id="11" name="Text 9"/>
          <p:cNvSpPr txBox="1"/>
          <p:nvPr/>
        </p:nvSpPr>
        <p:spPr>
          <a:xfrm>
            <a:off x="3767328" y="1463040"/>
            <a:ext cx="2157984" cy="2194560"/>
          </a:xfrm>
          <a:prstGeom prst="rect">
            <a:avLst/>
          </a:prstGeom>
          <a:noFill/>
          <a:ln/>
        </p:spPr>
        <p:txBody>
          <a:bodyPr wrap="square" lIns="0" tIns="0" rIns="0" bIns="0" rtlCol="0" anchor="ctr"/>
          <a:lstStyle/>
          <a:p>
            <a:pPr indent="0" marL="0">
              <a:buNone/>
            </a:pPr>
            <a:r>
              <a:rPr lang="en-US" sz="1400" b="1" dirty="0">
                <a:solidFill>
                  <a:srgbClr val="F6F1E7"/>
                </a:solidFill>
                <a:latin typeface="Arial" pitchFamily="34" charset="0"/>
                <a:ea typeface="Arial" pitchFamily="34" charset="-122"/>
                <a:cs typeface="Arial" pitchFamily="34" charset="-120"/>
              </a:rPr>
              <a:t>Orchestrator</a:t>
            </a:r>
            <a:endParaRPr lang="en-US" sz="1400" dirty="0"/>
          </a:p>
          <a:p>
            <a:pPr indent="0" marL="0">
              <a:buNone/>
            </a:pPr>
            <a:r>
              <a:rPr lang="en-US" sz="1100" dirty="0">
                <a:solidFill>
                  <a:srgbClr val="B8C4D4"/>
                </a:solidFill>
                <a:latin typeface="Calibri" pitchFamily="34" charset="0"/>
                <a:ea typeface="Calibri" pitchFamily="34" charset="-122"/>
                <a:cs typeface="Calibri" pitchFamily="34" charset="-120"/>
              </a:rPr>
              <a:t>Guide state machine: safety → step 1 → “done” → step 2 …</a:t>
            </a:r>
            <a:endParaRPr lang="en-US" sz="1400" dirty="0"/>
          </a:p>
          <a:p>
            <a:pPr indent="0" marL="0">
              <a:buNone/>
            </a:pPr>
            <a:r>
              <a:rPr lang="en-US" sz="1100" dirty="0">
                <a:solidFill>
                  <a:srgbClr val="B8C4D4"/>
                </a:solidFill>
                <a:latin typeface="Calibri" pitchFamily="34" charset="0"/>
                <a:ea typeface="Calibri" pitchFamily="34" charset="-122"/>
                <a:cs typeface="Calibri" pitchFamily="34" charset="-120"/>
              </a:rPr>
              <a:t>Builds Fixy's prompt from the KB entry + your question + keyframe</a:t>
            </a:r>
            <a:endParaRPr lang="en-US" sz="1400" dirty="0"/>
          </a:p>
        </p:txBody>
      </p:sp>
      <p:sp>
        <p:nvSpPr>
          <p:cNvPr id="12" name="Shape 10"/>
          <p:cNvSpPr/>
          <p:nvPr/>
        </p:nvSpPr>
        <p:spPr>
          <a:xfrm>
            <a:off x="6675120" y="1463040"/>
            <a:ext cx="2468880" cy="1371600"/>
          </a:xfrm>
          <a:prstGeom prst="roundRect">
            <a:avLst>
              <a:gd name="adj" fmla="val 6667"/>
            </a:avLst>
          </a:prstGeom>
          <a:solidFill>
            <a:srgbClr val="0F1C2E"/>
          </a:solidFill>
          <a:ln w="19050">
            <a:solidFill>
              <a:srgbClr val="0F1C2E"/>
            </a:solidFill>
            <a:prstDash val="solid"/>
          </a:ln>
        </p:spPr>
      </p:sp>
      <p:sp>
        <p:nvSpPr>
          <p:cNvPr id="13" name="Text 11"/>
          <p:cNvSpPr txBox="1"/>
          <p:nvPr/>
        </p:nvSpPr>
        <p:spPr>
          <a:xfrm>
            <a:off x="6784848" y="1463040"/>
            <a:ext cx="2249424" cy="1371600"/>
          </a:xfrm>
          <a:prstGeom prst="rect">
            <a:avLst/>
          </a:prstGeom>
          <a:noFill/>
          <a:ln/>
        </p:spPr>
        <p:txBody>
          <a:bodyPr wrap="square" lIns="0" tIns="0" rIns="0" bIns="0" rtlCol="0" anchor="ctr"/>
          <a:lstStyle/>
          <a:p>
            <a:pPr indent="0" marL="0">
              <a:buNone/>
            </a:pPr>
            <a:r>
              <a:rPr lang="en-US" sz="1400" b="1" dirty="0">
                <a:solidFill>
                  <a:srgbClr val="F6F1E7"/>
                </a:solidFill>
                <a:latin typeface="Arial" pitchFamily="34" charset="0"/>
                <a:ea typeface="Arial" pitchFamily="34" charset="-122"/>
                <a:cs typeface="Arial" pitchFamily="34" charset="-120"/>
              </a:rPr>
              <a:t>Vision-language model</a:t>
            </a:r>
            <a:endParaRPr lang="en-US" sz="1400" dirty="0"/>
          </a:p>
          <a:p>
            <a:pPr indent="0" marL="0">
              <a:buNone/>
            </a:pPr>
            <a:r>
              <a:rPr lang="en-US" sz="1100" dirty="0">
                <a:solidFill>
                  <a:srgbClr val="B8C4D4"/>
                </a:solidFill>
                <a:latin typeface="Calibri" pitchFamily="34" charset="0"/>
                <a:ea typeface="Calibri" pitchFamily="34" charset="-122"/>
                <a:cs typeface="Calibri" pitchFamily="34" charset="-120"/>
              </a:rPr>
              <a:t>Qwen3-VL-4B (int4) on MNN. Returns a box line first, then 1–2 sentences</a:t>
            </a:r>
            <a:endParaRPr lang="en-US" sz="1400" dirty="0"/>
          </a:p>
        </p:txBody>
      </p:sp>
      <p:sp>
        <p:nvSpPr>
          <p:cNvPr id="14" name="Shape 12"/>
          <p:cNvSpPr/>
          <p:nvPr/>
        </p:nvSpPr>
        <p:spPr>
          <a:xfrm>
            <a:off x="6675120" y="4206240"/>
            <a:ext cx="2468880" cy="868680"/>
          </a:xfrm>
          <a:prstGeom prst="roundRect">
            <a:avLst>
              <a:gd name="adj" fmla="val 10526"/>
            </a:avLst>
          </a:prstGeom>
          <a:solidFill>
            <a:srgbClr val="FFF1DD"/>
          </a:solidFill>
          <a:ln w="19050">
            <a:solidFill>
              <a:srgbClr val="FF9F1C"/>
            </a:solidFill>
            <a:prstDash val="solid"/>
          </a:ln>
        </p:spPr>
      </p:sp>
      <p:sp>
        <p:nvSpPr>
          <p:cNvPr id="15" name="Text 13"/>
          <p:cNvSpPr txBox="1"/>
          <p:nvPr/>
        </p:nvSpPr>
        <p:spPr>
          <a:xfrm>
            <a:off x="6784848" y="4206240"/>
            <a:ext cx="2249424" cy="868680"/>
          </a:xfrm>
          <a:prstGeom prst="rect">
            <a:avLst/>
          </a:prstGeom>
          <a:noFill/>
          <a:ln/>
        </p:spPr>
        <p:txBody>
          <a:bodyPr wrap="square" lIns="0" tIns="0" rIns="0" bIns="0" rtlCol="0" anchor="ctr"/>
          <a:lstStyle/>
          <a:p>
            <a:pPr indent="0" marL="0">
              <a:buNone/>
            </a:pPr>
            <a:r>
              <a:rPr lang="en-US" sz="1400" b="1" dirty="0">
                <a:solidFill>
                  <a:srgbClr val="0F1C2E"/>
                </a:solidFill>
                <a:latin typeface="Arial" pitchFamily="34" charset="0"/>
                <a:ea typeface="Arial" pitchFamily="34" charset="-122"/>
                <a:cs typeface="Arial" pitchFamily="34" charset="-120"/>
              </a:rPr>
              <a:t>Tracker</a:t>
            </a:r>
            <a:endParaRPr lang="en-US" sz="1400" dirty="0"/>
          </a:p>
          <a:p>
            <a:pPr indent="0" marL="0">
              <a:buNone/>
            </a:pPr>
            <a:r>
              <a:rPr lang="en-US" sz="1100" dirty="0">
                <a:solidFill>
                  <a:srgbClr val="6B5A40"/>
                </a:solidFill>
                <a:latin typeface="Calibri" pitchFamily="34" charset="0"/>
                <a:ea typeface="Calibri" pitchFamily="34" charset="-122"/>
                <a:cs typeface="Calibri" pitchFamily="34" charset="-120"/>
              </a:rPr>
              <a:t>OpenCV optical flow + homography, every frame</a:t>
            </a:r>
            <a:endParaRPr lang="en-US" sz="1400" dirty="0"/>
          </a:p>
        </p:txBody>
      </p:sp>
      <p:sp>
        <p:nvSpPr>
          <p:cNvPr id="16" name="Shape 14"/>
          <p:cNvSpPr/>
          <p:nvPr/>
        </p:nvSpPr>
        <p:spPr>
          <a:xfrm>
            <a:off x="9692640" y="1463040"/>
            <a:ext cx="1920240" cy="868680"/>
          </a:xfrm>
          <a:prstGeom prst="roundRect">
            <a:avLst>
              <a:gd name="adj" fmla="val 10526"/>
            </a:avLst>
          </a:prstGeom>
          <a:solidFill>
            <a:srgbClr val="FFFFFF"/>
          </a:solidFill>
          <a:ln w="19050">
            <a:solidFill>
              <a:srgbClr val="0F1C2E"/>
            </a:solidFill>
            <a:prstDash val="solid"/>
          </a:ln>
        </p:spPr>
      </p:sp>
      <p:sp>
        <p:nvSpPr>
          <p:cNvPr id="17" name="Text 15"/>
          <p:cNvSpPr txBox="1"/>
          <p:nvPr/>
        </p:nvSpPr>
        <p:spPr>
          <a:xfrm>
            <a:off x="9802368" y="1463040"/>
            <a:ext cx="1700784" cy="868680"/>
          </a:xfrm>
          <a:prstGeom prst="rect">
            <a:avLst/>
          </a:prstGeom>
          <a:noFill/>
          <a:ln/>
        </p:spPr>
        <p:txBody>
          <a:bodyPr wrap="square" lIns="0" tIns="0" rIns="0" bIns="0" rtlCol="0" anchor="ctr"/>
          <a:lstStyle/>
          <a:p>
            <a:pPr indent="0" marL="0">
              <a:buNone/>
            </a:pPr>
            <a:r>
              <a:rPr lang="en-US" sz="1400" b="1" dirty="0">
                <a:solidFill>
                  <a:srgbClr val="0F1C2E"/>
                </a:solidFill>
                <a:latin typeface="Arial" pitchFamily="34" charset="0"/>
                <a:ea typeface="Arial" pitchFamily="34" charset="-122"/>
                <a:cs typeface="Arial" pitchFamily="34" charset="-120"/>
              </a:rPr>
              <a:t>Captions + voice</a:t>
            </a:r>
            <a:endParaRPr lang="en-US" sz="1400" dirty="0"/>
          </a:p>
          <a:p>
            <a:pPr indent="0" marL="0">
              <a:buNone/>
            </a:pPr>
            <a:r>
              <a:rPr lang="en-US" sz="1100" dirty="0">
                <a:solidFill>
                  <a:srgbClr val="5B6B80"/>
                </a:solidFill>
                <a:latin typeface="Calibri" pitchFamily="34" charset="0"/>
                <a:ea typeface="Calibri" pitchFamily="34" charset="-122"/>
                <a:cs typeface="Calibri" pitchFamily="34" charset="-120"/>
              </a:rPr>
              <a:t>Android TTS, sentence by sentence</a:t>
            </a:r>
            <a:endParaRPr lang="en-US" sz="1400" dirty="0"/>
          </a:p>
        </p:txBody>
      </p:sp>
      <p:sp>
        <p:nvSpPr>
          <p:cNvPr id="18" name="Shape 16"/>
          <p:cNvSpPr/>
          <p:nvPr/>
        </p:nvSpPr>
        <p:spPr>
          <a:xfrm>
            <a:off x="9692640" y="4206240"/>
            <a:ext cx="1920240" cy="868680"/>
          </a:xfrm>
          <a:prstGeom prst="roundRect">
            <a:avLst>
              <a:gd name="adj" fmla="val 10526"/>
            </a:avLst>
          </a:prstGeom>
          <a:solidFill>
            <a:srgbClr val="FFF1DD"/>
          </a:solidFill>
          <a:ln w="19050">
            <a:solidFill>
              <a:srgbClr val="FF9F1C"/>
            </a:solidFill>
            <a:prstDash val="solid"/>
          </a:ln>
        </p:spPr>
      </p:sp>
      <p:sp>
        <p:nvSpPr>
          <p:cNvPr id="19" name="Text 17"/>
          <p:cNvSpPr txBox="1"/>
          <p:nvPr/>
        </p:nvSpPr>
        <p:spPr>
          <a:xfrm>
            <a:off x="9802368" y="4206240"/>
            <a:ext cx="1700784" cy="868680"/>
          </a:xfrm>
          <a:prstGeom prst="rect">
            <a:avLst/>
          </a:prstGeom>
          <a:noFill/>
          <a:ln/>
        </p:spPr>
        <p:txBody>
          <a:bodyPr wrap="square" lIns="0" tIns="0" rIns="0" bIns="0" rtlCol="0" anchor="ctr"/>
          <a:lstStyle/>
          <a:p>
            <a:pPr indent="0" marL="0">
              <a:buNone/>
            </a:pPr>
            <a:r>
              <a:rPr lang="en-US" sz="1400" b="1" dirty="0">
                <a:solidFill>
                  <a:srgbClr val="0F1C2E"/>
                </a:solidFill>
                <a:latin typeface="Arial" pitchFamily="34" charset="0"/>
                <a:ea typeface="Arial" pitchFamily="34" charset="-122"/>
                <a:cs typeface="Arial" pitchFamily="34" charset="-120"/>
              </a:rPr>
              <a:t>Marker overlay</a:t>
            </a:r>
            <a:endParaRPr lang="en-US" sz="1400" dirty="0"/>
          </a:p>
          <a:p>
            <a:pPr indent="0" marL="0">
              <a:buNone/>
            </a:pPr>
            <a:r>
              <a:rPr lang="en-US" sz="1100" dirty="0">
                <a:solidFill>
                  <a:srgbClr val="6B5A40"/>
                </a:solidFill>
                <a:latin typeface="Calibri" pitchFamily="34" charset="0"/>
                <a:ea typeface="Calibri" pitchFamily="34" charset="-122"/>
                <a:cs typeface="Calibri" pitchFamily="34" charset="-120"/>
              </a:rPr>
              <a:t>Pulsing box locked on the part</a:t>
            </a:r>
            <a:endParaRPr lang="en-US" sz="1400" dirty="0"/>
          </a:p>
        </p:txBody>
      </p:sp>
      <p:sp>
        <p:nvSpPr>
          <p:cNvPr id="20" name="Shape 18"/>
          <p:cNvSpPr/>
          <p:nvPr/>
        </p:nvSpPr>
        <p:spPr>
          <a:xfrm>
            <a:off x="3017520" y="1892808"/>
            <a:ext cx="640080" cy="0"/>
          </a:xfrm>
          <a:prstGeom prst="line">
            <a:avLst/>
          </a:prstGeom>
          <a:noFill/>
          <a:ln w="22225">
            <a:solidFill>
              <a:srgbClr val="0F1C2E"/>
            </a:solidFill>
            <a:prstDash val="solid"/>
            <a:tailEnd type="triangle"/>
          </a:ln>
        </p:spPr>
      </p:sp>
      <p:sp>
        <p:nvSpPr>
          <p:cNvPr id="21" name="Shape 19"/>
          <p:cNvSpPr/>
          <p:nvPr/>
        </p:nvSpPr>
        <p:spPr>
          <a:xfrm>
            <a:off x="3017520" y="3218688"/>
            <a:ext cx="640080" cy="0"/>
          </a:xfrm>
          <a:prstGeom prst="line">
            <a:avLst/>
          </a:prstGeom>
          <a:noFill/>
          <a:ln w="22225">
            <a:solidFill>
              <a:srgbClr val="0F1C2E"/>
            </a:solidFill>
            <a:prstDash val="solid"/>
            <a:tailEnd type="triangle"/>
          </a:ln>
        </p:spPr>
      </p:sp>
      <p:sp>
        <p:nvSpPr>
          <p:cNvPr id="22" name="Shape 20"/>
          <p:cNvSpPr/>
          <p:nvPr/>
        </p:nvSpPr>
        <p:spPr>
          <a:xfrm>
            <a:off x="6035040" y="2148840"/>
            <a:ext cx="640080" cy="0"/>
          </a:xfrm>
          <a:prstGeom prst="line">
            <a:avLst/>
          </a:prstGeom>
          <a:noFill/>
          <a:ln w="22225">
            <a:solidFill>
              <a:srgbClr val="0F1C2E"/>
            </a:solidFill>
            <a:prstDash val="solid"/>
            <a:tailEnd type="triangle"/>
          </a:ln>
        </p:spPr>
      </p:sp>
      <p:sp>
        <p:nvSpPr>
          <p:cNvPr id="23" name="Text 21"/>
          <p:cNvSpPr txBox="1"/>
          <p:nvPr/>
        </p:nvSpPr>
        <p:spPr>
          <a:xfrm>
            <a:off x="5897880" y="1828800"/>
            <a:ext cx="914400" cy="256032"/>
          </a:xfrm>
          <a:prstGeom prst="rect">
            <a:avLst/>
          </a:prstGeom>
          <a:noFill/>
          <a:ln/>
        </p:spPr>
        <p:txBody>
          <a:bodyPr wrap="square" lIns="0" tIns="0" rIns="0" bIns="0" rtlCol="0" anchor="ctr"/>
          <a:lstStyle/>
          <a:p>
            <a:pPr algn="ctr" indent="0" marL="0">
              <a:buNone/>
            </a:pPr>
            <a:r>
              <a:rPr lang="en-US" sz="1050" i="1" dirty="0">
                <a:solidFill>
                  <a:srgbClr val="5B6B80"/>
                </a:solidFill>
                <a:latin typeface="Calibri" pitchFamily="34" charset="0"/>
                <a:ea typeface="Calibri" pitchFamily="34" charset="-122"/>
                <a:cs typeface="Calibri" pitchFamily="34" charset="-120"/>
              </a:rPr>
              <a:t>prompt</a:t>
            </a:r>
            <a:endParaRPr lang="en-US" sz="1050" dirty="0"/>
          </a:p>
        </p:txBody>
      </p:sp>
      <p:sp>
        <p:nvSpPr>
          <p:cNvPr id="24" name="Shape 22"/>
          <p:cNvSpPr/>
          <p:nvPr/>
        </p:nvSpPr>
        <p:spPr>
          <a:xfrm>
            <a:off x="9144000" y="1892808"/>
            <a:ext cx="548640" cy="0"/>
          </a:xfrm>
          <a:prstGeom prst="line">
            <a:avLst/>
          </a:prstGeom>
          <a:noFill/>
          <a:ln w="22225">
            <a:solidFill>
              <a:srgbClr val="0F1C2E"/>
            </a:solidFill>
            <a:prstDash val="solid"/>
            <a:tailEnd type="triangle"/>
          </a:ln>
        </p:spPr>
      </p:sp>
      <p:sp>
        <p:nvSpPr>
          <p:cNvPr id="25" name="Text 23"/>
          <p:cNvSpPr txBox="1"/>
          <p:nvPr/>
        </p:nvSpPr>
        <p:spPr>
          <a:xfrm>
            <a:off x="9006840" y="1572768"/>
            <a:ext cx="822960" cy="256032"/>
          </a:xfrm>
          <a:prstGeom prst="rect">
            <a:avLst/>
          </a:prstGeom>
          <a:noFill/>
          <a:ln/>
        </p:spPr>
        <p:txBody>
          <a:bodyPr wrap="square" lIns="0" tIns="0" rIns="0" bIns="0" rtlCol="0" anchor="ctr"/>
          <a:lstStyle/>
          <a:p>
            <a:pPr algn="ctr" indent="0" marL="0">
              <a:buNone/>
            </a:pPr>
            <a:r>
              <a:rPr lang="en-US" sz="1050" i="1" dirty="0">
                <a:solidFill>
                  <a:srgbClr val="5B6B80"/>
                </a:solidFill>
                <a:latin typeface="Calibri" pitchFamily="34" charset="0"/>
                <a:ea typeface="Calibri" pitchFamily="34" charset="-122"/>
                <a:cs typeface="Calibri" pitchFamily="34" charset="-120"/>
              </a:rPr>
              <a:t>words</a:t>
            </a:r>
            <a:endParaRPr lang="en-US" sz="1050" dirty="0"/>
          </a:p>
        </p:txBody>
      </p:sp>
      <p:sp>
        <p:nvSpPr>
          <p:cNvPr id="26" name="Shape 24"/>
          <p:cNvSpPr/>
          <p:nvPr/>
        </p:nvSpPr>
        <p:spPr>
          <a:xfrm>
            <a:off x="7589520" y="2834640"/>
            <a:ext cx="0" cy="1371600"/>
          </a:xfrm>
          <a:prstGeom prst="line">
            <a:avLst/>
          </a:prstGeom>
          <a:noFill/>
          <a:ln w="22225">
            <a:solidFill>
              <a:srgbClr val="0F1C2E"/>
            </a:solidFill>
            <a:prstDash val="solid"/>
            <a:tailEnd type="triangle"/>
          </a:ln>
        </p:spPr>
      </p:sp>
      <p:sp>
        <p:nvSpPr>
          <p:cNvPr id="27" name="Text 25"/>
          <p:cNvSpPr txBox="1"/>
          <p:nvPr/>
        </p:nvSpPr>
        <p:spPr>
          <a:xfrm>
            <a:off x="7680960" y="3383280"/>
            <a:ext cx="548640" cy="256032"/>
          </a:xfrm>
          <a:prstGeom prst="rect">
            <a:avLst/>
          </a:prstGeom>
          <a:noFill/>
          <a:ln/>
        </p:spPr>
        <p:txBody>
          <a:bodyPr wrap="square" lIns="0" tIns="0" rIns="0" bIns="0" rtlCol="0" anchor="ctr"/>
          <a:lstStyle/>
          <a:p>
            <a:pPr indent="0" marL="0">
              <a:buNone/>
            </a:pPr>
            <a:r>
              <a:rPr lang="en-US" sz="1050" i="1" dirty="0">
                <a:solidFill>
                  <a:srgbClr val="0F1C2E"/>
                </a:solidFill>
                <a:latin typeface="Calibri" pitchFamily="34" charset="0"/>
                <a:ea typeface="Calibri" pitchFamily="34" charset="-122"/>
                <a:cs typeface="Calibri" pitchFamily="34" charset="-120"/>
              </a:rPr>
              <a:t>box</a:t>
            </a:r>
            <a:endParaRPr lang="en-US" sz="1050" dirty="0"/>
          </a:p>
        </p:txBody>
      </p:sp>
      <p:sp>
        <p:nvSpPr>
          <p:cNvPr id="28" name="Shape 26"/>
          <p:cNvSpPr/>
          <p:nvPr/>
        </p:nvSpPr>
        <p:spPr>
          <a:xfrm flipV="1">
            <a:off x="8321040" y="2834640"/>
            <a:ext cx="0" cy="1371600"/>
          </a:xfrm>
          <a:prstGeom prst="line">
            <a:avLst/>
          </a:prstGeom>
          <a:noFill/>
          <a:ln w="22225">
            <a:solidFill>
              <a:srgbClr val="B26A00"/>
            </a:solidFill>
            <a:prstDash val="dash"/>
            <a:tailEnd type="triangle"/>
          </a:ln>
        </p:spPr>
      </p:sp>
      <p:sp>
        <p:nvSpPr>
          <p:cNvPr id="29" name="Text 27"/>
          <p:cNvSpPr txBox="1"/>
          <p:nvPr/>
        </p:nvSpPr>
        <p:spPr>
          <a:xfrm>
            <a:off x="8412480" y="3383280"/>
            <a:ext cx="1188720" cy="256032"/>
          </a:xfrm>
          <a:prstGeom prst="rect">
            <a:avLst/>
          </a:prstGeom>
          <a:noFill/>
          <a:ln/>
        </p:spPr>
        <p:txBody>
          <a:bodyPr wrap="square" lIns="0" tIns="0" rIns="0" bIns="0" rtlCol="0" anchor="ctr"/>
          <a:lstStyle/>
          <a:p>
            <a:pPr indent="0" marL="0">
              <a:buNone/>
            </a:pPr>
            <a:r>
              <a:rPr lang="en-US" sz="1050" i="1" dirty="0">
                <a:solidFill>
                  <a:srgbClr val="B26A00"/>
                </a:solidFill>
                <a:latin typeface="Calibri" pitchFamily="34" charset="0"/>
                <a:ea typeface="Calibri" pitchFamily="34" charset="-122"/>
                <a:cs typeface="Calibri" pitchFamily="34" charset="-120"/>
              </a:rPr>
              <a:t>lost? re-ask</a:t>
            </a:r>
            <a:endParaRPr lang="en-US" sz="1050" dirty="0"/>
          </a:p>
        </p:txBody>
      </p:sp>
      <p:sp>
        <p:nvSpPr>
          <p:cNvPr id="30" name="Shape 28"/>
          <p:cNvSpPr/>
          <p:nvPr/>
        </p:nvSpPr>
        <p:spPr>
          <a:xfrm>
            <a:off x="3017520" y="4636008"/>
            <a:ext cx="3657600" cy="0"/>
          </a:xfrm>
          <a:prstGeom prst="line">
            <a:avLst/>
          </a:prstGeom>
          <a:noFill/>
          <a:ln w="22225">
            <a:solidFill>
              <a:srgbClr val="B26A00"/>
            </a:solidFill>
            <a:prstDash val="solid"/>
            <a:tailEnd type="triangle"/>
          </a:ln>
        </p:spPr>
      </p:sp>
      <p:sp>
        <p:nvSpPr>
          <p:cNvPr id="31" name="Text 29"/>
          <p:cNvSpPr txBox="1"/>
          <p:nvPr/>
        </p:nvSpPr>
        <p:spPr>
          <a:xfrm>
            <a:off x="3200400" y="4727448"/>
            <a:ext cx="2926080" cy="256032"/>
          </a:xfrm>
          <a:prstGeom prst="rect">
            <a:avLst/>
          </a:prstGeom>
          <a:noFill/>
          <a:ln/>
        </p:spPr>
        <p:txBody>
          <a:bodyPr wrap="square" lIns="0" tIns="0" rIns="0" bIns="0" rtlCol="0" anchor="ctr"/>
          <a:lstStyle/>
          <a:p>
            <a:pPr algn="ctr" indent="0" marL="0">
              <a:buNone/>
            </a:pPr>
            <a:r>
              <a:rPr lang="en-US" sz="1050" i="1" dirty="0">
                <a:solidFill>
                  <a:srgbClr val="B26A00"/>
                </a:solidFill>
                <a:latin typeface="Calibri" pitchFamily="34" charset="0"/>
                <a:ea typeface="Calibri" pitchFamily="34" charset="-122"/>
                <a:cs typeface="Calibri" pitchFamily="34" charset="-120"/>
              </a:rPr>
              <a:t>live frames + fast-forward from the keyframe</a:t>
            </a:r>
            <a:endParaRPr lang="en-US" sz="1050" dirty="0"/>
          </a:p>
        </p:txBody>
      </p:sp>
      <p:sp>
        <p:nvSpPr>
          <p:cNvPr id="32" name="Shape 30"/>
          <p:cNvSpPr/>
          <p:nvPr/>
        </p:nvSpPr>
        <p:spPr>
          <a:xfrm flipV="1">
            <a:off x="4846320" y="3657600"/>
            <a:ext cx="0" cy="978408"/>
          </a:xfrm>
          <a:prstGeom prst="line">
            <a:avLst/>
          </a:prstGeom>
          <a:noFill/>
          <a:ln w="22225">
            <a:solidFill>
              <a:srgbClr val="0F1C2E"/>
            </a:solidFill>
            <a:prstDash val="solid"/>
            <a:tailEnd type="triangle"/>
          </a:ln>
        </p:spPr>
      </p:sp>
      <p:sp>
        <p:nvSpPr>
          <p:cNvPr id="33" name="Text 31"/>
          <p:cNvSpPr txBox="1"/>
          <p:nvPr/>
        </p:nvSpPr>
        <p:spPr>
          <a:xfrm>
            <a:off x="4892040" y="3931920"/>
            <a:ext cx="1097280" cy="256032"/>
          </a:xfrm>
          <a:prstGeom prst="rect">
            <a:avLst/>
          </a:prstGeom>
          <a:noFill/>
          <a:ln/>
        </p:spPr>
        <p:txBody>
          <a:bodyPr wrap="square" lIns="0" tIns="0" rIns="0" bIns="0" rtlCol="0" anchor="ctr"/>
          <a:lstStyle/>
          <a:p>
            <a:pPr algn="ctr" indent="0" marL="0">
              <a:buNone/>
            </a:pPr>
            <a:r>
              <a:rPr lang="en-US" sz="1050" i="1" dirty="0">
                <a:solidFill>
                  <a:srgbClr val="5B6B80"/>
                </a:solidFill>
                <a:latin typeface="Calibri" pitchFamily="34" charset="0"/>
                <a:ea typeface="Calibri" pitchFamily="34" charset="-122"/>
                <a:cs typeface="Calibri" pitchFamily="34" charset="-120"/>
              </a:rPr>
              <a:t>keyframe</a:t>
            </a:r>
            <a:endParaRPr lang="en-US" sz="1050" dirty="0"/>
          </a:p>
        </p:txBody>
      </p:sp>
      <p:sp>
        <p:nvSpPr>
          <p:cNvPr id="34" name="Shape 32"/>
          <p:cNvSpPr/>
          <p:nvPr/>
        </p:nvSpPr>
        <p:spPr>
          <a:xfrm>
            <a:off x="9144000" y="4636008"/>
            <a:ext cx="548640" cy="0"/>
          </a:xfrm>
          <a:prstGeom prst="line">
            <a:avLst/>
          </a:prstGeom>
          <a:noFill/>
          <a:ln w="22225">
            <a:solidFill>
              <a:srgbClr val="B26A00"/>
            </a:solidFill>
            <a:prstDash val="solid"/>
            <a:tailEnd type="triangle"/>
          </a:ln>
        </p:spPr>
      </p:sp>
      <p:sp>
        <p:nvSpPr>
          <p:cNvPr id="35" name="Shape 33"/>
          <p:cNvSpPr/>
          <p:nvPr/>
        </p:nvSpPr>
        <p:spPr>
          <a:xfrm>
            <a:off x="548640" y="5440680"/>
            <a:ext cx="3566160" cy="713232"/>
          </a:xfrm>
          <a:prstGeom prst="roundRect">
            <a:avLst>
              <a:gd name="adj" fmla="val 12821"/>
            </a:avLst>
          </a:prstGeom>
          <a:solidFill>
            <a:srgbClr val="0F1C2E"/>
          </a:solidFill>
          <a:ln w="12700">
            <a:solidFill>
              <a:srgbClr val="0F1C2E"/>
            </a:solidFill>
            <a:prstDash val="solid"/>
          </a:ln>
        </p:spPr>
      </p:sp>
      <p:sp>
        <p:nvSpPr>
          <p:cNvPr id="36" name="Text 34"/>
          <p:cNvSpPr txBox="1"/>
          <p:nvPr/>
        </p:nvSpPr>
        <p:spPr>
          <a:xfrm>
            <a:off x="713232" y="5440680"/>
            <a:ext cx="3291840" cy="713232"/>
          </a:xfrm>
          <a:prstGeom prst="rect">
            <a:avLst/>
          </a:prstGeom>
          <a:noFill/>
          <a:ln/>
        </p:spPr>
        <p:txBody>
          <a:bodyPr wrap="square" lIns="0" tIns="0" rIns="0" bIns="0" rtlCol="0" anchor="ctr"/>
          <a:lstStyle/>
          <a:p>
            <a:pPr indent="0" marL="0">
              <a:buNone/>
            </a:pPr>
            <a:r>
              <a:rPr lang="en-US" sz="1300" b="1" dirty="0">
                <a:solidFill>
                  <a:srgbClr val="F6F1E7"/>
                </a:solidFill>
                <a:latin typeface="Arial" pitchFamily="34" charset="0"/>
                <a:ea typeface="Arial" pitchFamily="34" charset="-122"/>
                <a:cs typeface="Arial" pitchFamily="34" charset="-120"/>
              </a:rPr>
              <a:t>Slow brain: once per question</a:t>
            </a:r>
            <a:endParaRPr lang="en-US" sz="1300" dirty="0"/>
          </a:p>
          <a:p>
            <a:pPr indent="0" marL="0">
              <a:buNone/>
            </a:pPr>
            <a:r>
              <a:rPr lang="en-US" sz="1150" dirty="0">
                <a:solidFill>
                  <a:srgbClr val="F6F1E7"/>
                </a:solidFill>
                <a:latin typeface="Calibri" pitchFamily="34" charset="0"/>
                <a:ea typeface="Calibri" pitchFamily="34" charset="-122"/>
                <a:cs typeface="Calibri" pitchFamily="34" charset="-120"/>
              </a:rPr>
              <a:t>The VLM thinks for 1–3 s, never per frame</a:t>
            </a:r>
            <a:endParaRPr lang="en-US" sz="1300" dirty="0"/>
          </a:p>
        </p:txBody>
      </p:sp>
      <p:sp>
        <p:nvSpPr>
          <p:cNvPr id="37" name="Shape 35"/>
          <p:cNvSpPr/>
          <p:nvPr/>
        </p:nvSpPr>
        <p:spPr>
          <a:xfrm>
            <a:off x="4297680" y="5440680"/>
            <a:ext cx="3566160" cy="713232"/>
          </a:xfrm>
          <a:prstGeom prst="roundRect">
            <a:avLst>
              <a:gd name="adj" fmla="val 12821"/>
            </a:avLst>
          </a:prstGeom>
          <a:solidFill>
            <a:srgbClr val="FFF1DD"/>
          </a:solidFill>
          <a:ln w="12700">
            <a:solidFill>
              <a:srgbClr val="FFF1DD"/>
            </a:solidFill>
            <a:prstDash val="solid"/>
          </a:ln>
        </p:spPr>
      </p:sp>
      <p:sp>
        <p:nvSpPr>
          <p:cNvPr id="38" name="Text 36"/>
          <p:cNvSpPr txBox="1"/>
          <p:nvPr/>
        </p:nvSpPr>
        <p:spPr>
          <a:xfrm>
            <a:off x="4462272" y="5440680"/>
            <a:ext cx="3291840" cy="713232"/>
          </a:xfrm>
          <a:prstGeom prst="rect">
            <a:avLst/>
          </a:prstGeom>
          <a:noFill/>
          <a:ln/>
        </p:spPr>
        <p:txBody>
          <a:bodyPr wrap="square" lIns="0" tIns="0" rIns="0" bIns="0" rtlCol="0" anchor="ctr"/>
          <a:lstStyle/>
          <a:p>
            <a:pPr indent="0" marL="0">
              <a:buNone/>
            </a:pPr>
            <a:r>
              <a:rPr lang="en-US" sz="1300" b="1" dirty="0">
                <a:solidFill>
                  <a:srgbClr val="0F1C2E"/>
                </a:solidFill>
                <a:latin typeface="Arial" pitchFamily="34" charset="0"/>
                <a:ea typeface="Arial" pitchFamily="34" charset="-122"/>
                <a:cs typeface="Arial" pitchFamily="34" charset="-120"/>
              </a:rPr>
              <a:t>Fast eyes: every frame</a:t>
            </a:r>
            <a:endParaRPr lang="en-US" sz="1300" dirty="0"/>
          </a:p>
          <a:p>
            <a:pPr indent="0" marL="0">
              <a:buNone/>
            </a:pPr>
            <a:r>
              <a:rPr lang="en-US" sz="1150" dirty="0">
                <a:solidFill>
                  <a:srgbClr val="0F1C2E"/>
                </a:solidFill>
                <a:latin typeface="Calibri" pitchFamily="34" charset="0"/>
                <a:ea typeface="Calibri" pitchFamily="34" charset="-122"/>
                <a:cs typeface="Calibri" pitchFamily="34" charset="-120"/>
              </a:rPr>
              <a:t>The tracker keeps the marker locked at 30 fps</a:t>
            </a:r>
            <a:endParaRPr lang="en-US" sz="1300" dirty="0"/>
          </a:p>
        </p:txBody>
      </p:sp>
      <p:sp>
        <p:nvSpPr>
          <p:cNvPr id="39" name="Shape 37"/>
          <p:cNvSpPr/>
          <p:nvPr/>
        </p:nvSpPr>
        <p:spPr>
          <a:xfrm>
            <a:off x="8046720" y="5440680"/>
            <a:ext cx="3566160" cy="713232"/>
          </a:xfrm>
          <a:prstGeom prst="roundRect">
            <a:avLst>
              <a:gd name="adj" fmla="val 12821"/>
            </a:avLst>
          </a:prstGeom>
          <a:solidFill>
            <a:srgbClr val="EEF2F7"/>
          </a:solidFill>
          <a:ln w="12700">
            <a:solidFill>
              <a:srgbClr val="EEF2F7"/>
            </a:solidFill>
            <a:prstDash val="solid"/>
          </a:ln>
        </p:spPr>
      </p:sp>
      <p:sp>
        <p:nvSpPr>
          <p:cNvPr id="40" name="Text 38"/>
          <p:cNvSpPr txBox="1"/>
          <p:nvPr/>
        </p:nvSpPr>
        <p:spPr>
          <a:xfrm>
            <a:off x="8211312" y="5440680"/>
            <a:ext cx="3291840" cy="713232"/>
          </a:xfrm>
          <a:prstGeom prst="rect">
            <a:avLst/>
          </a:prstGeom>
          <a:noFill/>
          <a:ln/>
        </p:spPr>
        <p:txBody>
          <a:bodyPr wrap="square" lIns="0" tIns="0" rIns="0" bIns="0" rtlCol="0" anchor="ctr"/>
          <a:lstStyle/>
          <a:p>
            <a:pPr indent="0" marL="0">
              <a:buNone/>
            </a:pPr>
            <a:r>
              <a:rPr lang="en-US" sz="1300" b="1" dirty="0">
                <a:solidFill>
                  <a:srgbClr val="0F1C2E"/>
                </a:solidFill>
                <a:latin typeface="Arial" pitchFamily="34" charset="0"/>
                <a:ea typeface="Arial" pitchFamily="34" charset="-122"/>
                <a:cs typeface="Arial" pitchFamily="34" charset="-120"/>
              </a:rPr>
              <a:t>All on the iQOO 15</a:t>
            </a:r>
            <a:endParaRPr lang="en-US" sz="1300" dirty="0"/>
          </a:p>
          <a:p>
            <a:pPr indent="0" marL="0">
              <a:buNone/>
            </a:pPr>
            <a:r>
              <a:rPr lang="en-US" sz="1150" dirty="0">
                <a:solidFill>
                  <a:srgbClr val="0F1C2E"/>
                </a:solidFill>
                <a:latin typeface="Calibri" pitchFamily="34" charset="0"/>
                <a:ea typeface="Calibri" pitchFamily="34" charset="-122"/>
                <a:cs typeface="Calibri" pitchFamily="34" charset="-120"/>
              </a:rPr>
              <a:t>Snapdragon 8 Elite Gen 5. No internet permission</a:t>
            </a:r>
            <a:endParaRPr lang="en-US" sz="1300" dirty="0"/>
          </a:p>
        </p:txBody>
      </p:sp>
      <p:pic>
        <p:nvPicPr>
          <p:cNvPr id="41" name="Image 0" descr="/tmp/claude-1000/-home-shiva-ajay-3D-IQOO-Hackathon/5b3f47cb-8e93-474d-997b-1b20d1cf681e/scratchpad/deck/assets/fixlens-logo.png">    </p:cNvPr>
          <p:cNvPicPr>
            <a:picLocks noChangeAspect="1"/>
          </p:cNvPicPr>
          <p:nvPr/>
        </p:nvPicPr>
        <p:blipFill>
          <a:blip r:embed="rId1"/>
          <a:stretch>
            <a:fillRect/>
          </a:stretch>
        </p:blipFill>
        <p:spPr>
          <a:xfrm>
            <a:off x="10378440" y="6355080"/>
            <a:ext cx="1234440" cy="365760"/>
          </a:xfrm>
          <a:prstGeom prst="rect">
            <a:avLst/>
          </a:prstGeom>
        </p:spPr>
      </p:pic>
      <p:sp>
        <p:nvSpPr>
          <p:cNvPr id="42" name="Text 39"/>
          <p:cNvSpPr txBox="1"/>
          <p:nvPr/>
        </p:nvSpPr>
        <p:spPr>
          <a:xfrm>
            <a:off x="548640" y="6355080"/>
            <a:ext cx="457200" cy="365760"/>
          </a:xfrm>
          <a:prstGeom prst="rect">
            <a:avLst/>
          </a:prstGeom>
          <a:noFill/>
          <a:ln/>
        </p:spPr>
        <p:txBody>
          <a:bodyPr wrap="square" lIns="0" tIns="0" rIns="0" bIns="0" rtlCol="0" anchor="ctr"/>
          <a:lstStyle/>
          <a:p>
            <a:pPr indent="0" marL="0">
              <a:buNone/>
            </a:pPr>
            <a:r>
              <a:rPr lang="en-US" sz="1100" dirty="0">
                <a:solidFill>
                  <a:srgbClr val="5B6B80"/>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5B6B80"/>
                </a:solidFill>
                <a:latin typeface="Calibri" pitchFamily="34" charset="0"/>
                <a:ea typeface="Calibri" pitchFamily="34" charset="-122"/>
                <a:cs typeface="Calibri" pitchFamily="34" charset="-120"/>
              </a:rPr>
              <a:t>TRUST BY DESIGN</a:t>
            </a:r>
            <a:endParaRPr lang="en-US" sz="1200" dirty="0"/>
          </a:p>
        </p:txBody>
      </p:sp>
      <p:sp>
        <p:nvSpPr>
          <p:cNvPr id="3" name="Text 1"/>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400" b="1" dirty="0">
                <a:solidFill>
                  <a:srgbClr val="0F1C2E"/>
                </a:solidFill>
                <a:latin typeface="Arial" pitchFamily="34" charset="0"/>
                <a:ea typeface="Arial" pitchFamily="34" charset="-122"/>
                <a:cs typeface="Arial" pitchFamily="34" charset="-120"/>
              </a:rPr>
              <a:t>It never guesses about your safety</a:t>
            </a:r>
            <a:endParaRPr lang="en-US" sz="3400" dirty="0"/>
          </a:p>
        </p:txBody>
      </p:sp>
      <p:sp>
        <p:nvSpPr>
          <p:cNvPr id="4" name="Shape 2"/>
          <p:cNvSpPr/>
          <p:nvPr/>
        </p:nvSpPr>
        <p:spPr>
          <a:xfrm>
            <a:off x="548640" y="1371600"/>
            <a:ext cx="2615184" cy="2560320"/>
          </a:xfrm>
          <a:prstGeom prst="roundRect">
            <a:avLst>
              <a:gd name="adj" fmla="val 5357"/>
            </a:avLst>
          </a:prstGeom>
          <a:solidFill>
            <a:srgbClr val="EEF2F7"/>
          </a:solidFill>
          <a:ln w="12700">
            <a:solidFill>
              <a:srgbClr val="EEF2F7"/>
            </a:solidFill>
            <a:prstDash val="solid"/>
          </a:ln>
        </p:spPr>
      </p:sp>
      <p:sp>
        <p:nvSpPr>
          <p:cNvPr id="5" name="Shape 3"/>
          <p:cNvSpPr/>
          <p:nvPr/>
        </p:nvSpPr>
        <p:spPr>
          <a:xfrm>
            <a:off x="777240" y="1627632"/>
            <a:ext cx="603504" cy="603504"/>
          </a:xfrm>
          <a:prstGeom prst="ellipse">
            <a:avLst/>
          </a:prstGeom>
          <a:solidFill>
            <a:srgbClr val="0F1C2E"/>
          </a:solidFill>
          <a:ln w="12700">
            <a:solidFill>
              <a:srgbClr val="0F1C2E"/>
            </a:solidFill>
            <a:prstDash val="solid"/>
          </a:ln>
        </p:spPr>
      </p:sp>
      <p:pic>
        <p:nvPicPr>
          <p:cNvPr id="6" name="Image 0" descr="preencoded.png">    </p:cNvPr>
          <p:cNvPicPr>
            <a:picLocks noChangeAspect="1"/>
          </p:cNvPicPr>
          <p:nvPr/>
        </p:nvPicPr>
        <p:blipFill>
          <a:blip r:embed="rId1"/>
          <a:stretch>
            <a:fillRect/>
          </a:stretch>
        </p:blipFill>
        <p:spPr>
          <a:xfrm>
            <a:off x="923544" y="1773936"/>
            <a:ext cx="310896" cy="310896"/>
          </a:xfrm>
          <a:prstGeom prst="rect">
            <a:avLst/>
          </a:prstGeom>
        </p:spPr>
      </p:pic>
      <p:sp>
        <p:nvSpPr>
          <p:cNvPr id="7" name="Text 4"/>
          <p:cNvSpPr txBox="1"/>
          <p:nvPr/>
        </p:nvSpPr>
        <p:spPr>
          <a:xfrm>
            <a:off x="777240" y="2359152"/>
            <a:ext cx="2203704" cy="365760"/>
          </a:xfrm>
          <a:prstGeom prst="rect">
            <a:avLst/>
          </a:prstGeom>
          <a:noFill/>
          <a:ln/>
        </p:spPr>
        <p:txBody>
          <a:bodyPr wrap="square" lIns="0" tIns="0" rIns="0" bIns="0" rtlCol="0" anchor="ctr"/>
          <a:lstStyle/>
          <a:p>
            <a:pPr indent="0" marL="0">
              <a:buNone/>
            </a:pPr>
            <a:r>
              <a:rPr lang="en-US" sz="1600" b="1" dirty="0">
                <a:solidFill>
                  <a:srgbClr val="0F1C2E"/>
                </a:solidFill>
                <a:latin typeface="Arial" pitchFamily="34" charset="0"/>
                <a:ea typeface="Arial" pitchFamily="34" charset="-122"/>
                <a:cs typeface="Arial" pitchFamily="34" charset="-120"/>
              </a:rPr>
              <a:t>Offline and private</a:t>
            </a:r>
            <a:endParaRPr lang="en-US" sz="1600" dirty="0"/>
          </a:p>
        </p:txBody>
      </p:sp>
      <p:sp>
        <p:nvSpPr>
          <p:cNvPr id="8" name="Text 5"/>
          <p:cNvSpPr txBox="1"/>
          <p:nvPr/>
        </p:nvSpPr>
        <p:spPr>
          <a:xfrm>
            <a:off x="777240" y="2743200"/>
            <a:ext cx="2203704" cy="1097280"/>
          </a:xfrm>
          <a:prstGeom prst="rect">
            <a:avLst/>
          </a:prstGeom>
          <a:noFill/>
          <a:ln/>
        </p:spPr>
        <p:txBody>
          <a:bodyPr wrap="square" lIns="0" tIns="0" rIns="0" bIns="0" rtlCol="0" anchor="t"/>
          <a:lstStyle/>
          <a:p>
            <a:pPr indent="0" marL="0">
              <a:buNone/>
            </a:pPr>
            <a:r>
              <a:rPr lang="en-US" sz="1300" dirty="0">
                <a:solidFill>
                  <a:srgbClr val="5B6B80"/>
                </a:solidFill>
                <a:latin typeface="Calibri" pitchFamily="34" charset="0"/>
                <a:ea typeface="Calibri" pitchFamily="34" charset="-122"/>
                <a:cs typeface="Calibri" pitchFamily="34" charset="-120"/>
              </a:rPr>
              <a:t>The app has no internet permission at all. Camera and voice never leave your phone.</a:t>
            </a:r>
            <a:endParaRPr lang="en-US" sz="1300" dirty="0"/>
          </a:p>
        </p:txBody>
      </p:sp>
      <p:sp>
        <p:nvSpPr>
          <p:cNvPr id="9" name="Shape 6"/>
          <p:cNvSpPr/>
          <p:nvPr/>
        </p:nvSpPr>
        <p:spPr>
          <a:xfrm>
            <a:off x="3364992" y="1371600"/>
            <a:ext cx="2615184" cy="2560320"/>
          </a:xfrm>
          <a:prstGeom prst="roundRect">
            <a:avLst>
              <a:gd name="adj" fmla="val 5357"/>
            </a:avLst>
          </a:prstGeom>
          <a:solidFill>
            <a:srgbClr val="EEF2F7"/>
          </a:solidFill>
          <a:ln w="12700">
            <a:solidFill>
              <a:srgbClr val="EEF2F7"/>
            </a:solidFill>
            <a:prstDash val="solid"/>
          </a:ln>
        </p:spPr>
      </p:sp>
      <p:sp>
        <p:nvSpPr>
          <p:cNvPr id="10" name="Shape 7"/>
          <p:cNvSpPr/>
          <p:nvPr/>
        </p:nvSpPr>
        <p:spPr>
          <a:xfrm>
            <a:off x="3593592" y="1627632"/>
            <a:ext cx="603504" cy="603504"/>
          </a:xfrm>
          <a:prstGeom prst="ellipse">
            <a:avLst/>
          </a:prstGeom>
          <a:solidFill>
            <a:srgbClr val="0F1C2E"/>
          </a:solidFill>
          <a:ln w="12700">
            <a:solidFill>
              <a:srgbClr val="0F1C2E"/>
            </a:solidFill>
            <a:prstDash val="solid"/>
          </a:ln>
        </p:spPr>
      </p:sp>
      <p:pic>
        <p:nvPicPr>
          <p:cNvPr id="11" name="Image 1" descr="preencoded.png">    </p:cNvPr>
          <p:cNvPicPr>
            <a:picLocks noChangeAspect="1"/>
          </p:cNvPicPr>
          <p:nvPr/>
        </p:nvPicPr>
        <p:blipFill>
          <a:blip r:embed="rId2"/>
          <a:stretch>
            <a:fillRect/>
          </a:stretch>
        </p:blipFill>
        <p:spPr>
          <a:xfrm>
            <a:off x="3739896" y="1773936"/>
            <a:ext cx="310896" cy="310896"/>
          </a:xfrm>
          <a:prstGeom prst="rect">
            <a:avLst/>
          </a:prstGeom>
        </p:spPr>
      </p:pic>
      <p:sp>
        <p:nvSpPr>
          <p:cNvPr id="12" name="Text 8"/>
          <p:cNvSpPr txBox="1"/>
          <p:nvPr/>
        </p:nvSpPr>
        <p:spPr>
          <a:xfrm>
            <a:off x="3593592" y="2359152"/>
            <a:ext cx="2203704" cy="365760"/>
          </a:xfrm>
          <a:prstGeom prst="rect">
            <a:avLst/>
          </a:prstGeom>
          <a:noFill/>
          <a:ln/>
        </p:spPr>
        <p:txBody>
          <a:bodyPr wrap="square" lIns="0" tIns="0" rIns="0" bIns="0" rtlCol="0" anchor="ctr"/>
          <a:lstStyle/>
          <a:p>
            <a:pPr indent="0" marL="0">
              <a:buNone/>
            </a:pPr>
            <a:r>
              <a:rPr lang="en-US" sz="1600" b="1" dirty="0">
                <a:solidFill>
                  <a:srgbClr val="0F1C2E"/>
                </a:solidFill>
                <a:latin typeface="Arial" pitchFamily="34" charset="0"/>
                <a:ea typeface="Arial" pitchFamily="34" charset="-122"/>
                <a:cs typeface="Arial" pitchFamily="34" charset="-120"/>
              </a:rPr>
              <a:t>Verified steps only</a:t>
            </a:r>
            <a:endParaRPr lang="en-US" sz="1600" dirty="0"/>
          </a:p>
        </p:txBody>
      </p:sp>
      <p:sp>
        <p:nvSpPr>
          <p:cNvPr id="13" name="Text 9"/>
          <p:cNvSpPr txBox="1"/>
          <p:nvPr/>
        </p:nvSpPr>
        <p:spPr>
          <a:xfrm>
            <a:off x="3593592" y="2743200"/>
            <a:ext cx="2203704" cy="1097280"/>
          </a:xfrm>
          <a:prstGeom prst="rect">
            <a:avLst/>
          </a:prstGeom>
          <a:noFill/>
          <a:ln/>
        </p:spPr>
        <p:txBody>
          <a:bodyPr wrap="square" lIns="0" tIns="0" rIns="0" bIns="0" rtlCol="0" anchor="t"/>
          <a:lstStyle/>
          <a:p>
            <a:pPr indent="0" marL="0">
              <a:buNone/>
            </a:pPr>
            <a:r>
              <a:rPr lang="en-US" sz="1300" dirty="0">
                <a:solidFill>
                  <a:srgbClr val="5B6B80"/>
                </a:solidFill>
                <a:latin typeface="Calibri" pitchFamily="34" charset="0"/>
                <a:ea typeface="Calibri" pitchFamily="34" charset="-122"/>
                <a:cs typeface="Calibri" pitchFamily="34" charset="-120"/>
              </a:rPr>
              <a:t>Repair steps come word for word from a checked knowledge base. The AI never invents parts, values or codes.</a:t>
            </a:r>
            <a:endParaRPr lang="en-US" sz="1300" dirty="0"/>
          </a:p>
        </p:txBody>
      </p:sp>
      <p:sp>
        <p:nvSpPr>
          <p:cNvPr id="14" name="Shape 10"/>
          <p:cNvSpPr/>
          <p:nvPr/>
        </p:nvSpPr>
        <p:spPr>
          <a:xfrm>
            <a:off x="6181344" y="1371600"/>
            <a:ext cx="2615184" cy="2560320"/>
          </a:xfrm>
          <a:prstGeom prst="roundRect">
            <a:avLst>
              <a:gd name="adj" fmla="val 5357"/>
            </a:avLst>
          </a:prstGeom>
          <a:solidFill>
            <a:srgbClr val="EEF2F7"/>
          </a:solidFill>
          <a:ln w="12700">
            <a:solidFill>
              <a:srgbClr val="EEF2F7"/>
            </a:solidFill>
            <a:prstDash val="solid"/>
          </a:ln>
        </p:spPr>
      </p:sp>
      <p:sp>
        <p:nvSpPr>
          <p:cNvPr id="15" name="Shape 11"/>
          <p:cNvSpPr/>
          <p:nvPr/>
        </p:nvSpPr>
        <p:spPr>
          <a:xfrm>
            <a:off x="6409944" y="1627632"/>
            <a:ext cx="603504" cy="603504"/>
          </a:xfrm>
          <a:prstGeom prst="ellipse">
            <a:avLst/>
          </a:prstGeom>
          <a:solidFill>
            <a:srgbClr val="0F1C2E"/>
          </a:solidFill>
          <a:ln w="12700">
            <a:solidFill>
              <a:srgbClr val="0F1C2E"/>
            </a:solidFill>
            <a:prstDash val="solid"/>
          </a:ln>
        </p:spPr>
      </p:sp>
      <p:pic>
        <p:nvPicPr>
          <p:cNvPr id="16" name="Image 2" descr="preencoded.png">    </p:cNvPr>
          <p:cNvPicPr>
            <a:picLocks noChangeAspect="1"/>
          </p:cNvPicPr>
          <p:nvPr/>
        </p:nvPicPr>
        <p:blipFill>
          <a:blip r:embed="rId3"/>
          <a:stretch>
            <a:fillRect/>
          </a:stretch>
        </p:blipFill>
        <p:spPr>
          <a:xfrm>
            <a:off x="6556248" y="1773936"/>
            <a:ext cx="310896" cy="310896"/>
          </a:xfrm>
          <a:prstGeom prst="rect">
            <a:avLst/>
          </a:prstGeom>
        </p:spPr>
      </p:pic>
      <p:sp>
        <p:nvSpPr>
          <p:cNvPr id="17" name="Text 12"/>
          <p:cNvSpPr txBox="1"/>
          <p:nvPr/>
        </p:nvSpPr>
        <p:spPr>
          <a:xfrm>
            <a:off x="6409944" y="2359152"/>
            <a:ext cx="2203704" cy="365760"/>
          </a:xfrm>
          <a:prstGeom prst="rect">
            <a:avLst/>
          </a:prstGeom>
          <a:noFill/>
          <a:ln/>
        </p:spPr>
        <p:txBody>
          <a:bodyPr wrap="square" lIns="0" tIns="0" rIns="0" bIns="0" rtlCol="0" anchor="ctr"/>
          <a:lstStyle/>
          <a:p>
            <a:pPr indent="0" marL="0">
              <a:buNone/>
            </a:pPr>
            <a:r>
              <a:rPr lang="en-US" sz="1600" b="1" dirty="0">
                <a:solidFill>
                  <a:srgbClr val="0F1C2E"/>
                </a:solidFill>
                <a:latin typeface="Arial" pitchFamily="34" charset="0"/>
                <a:ea typeface="Arial" pitchFamily="34" charset="-122"/>
                <a:cs typeface="Arial" pitchFamily="34" charset="-120"/>
              </a:rPr>
              <a:t>Safety first</a:t>
            </a:r>
            <a:endParaRPr lang="en-US" sz="1600" dirty="0"/>
          </a:p>
        </p:txBody>
      </p:sp>
      <p:sp>
        <p:nvSpPr>
          <p:cNvPr id="18" name="Text 13"/>
          <p:cNvSpPr txBox="1"/>
          <p:nvPr/>
        </p:nvSpPr>
        <p:spPr>
          <a:xfrm>
            <a:off x="6409944" y="2743200"/>
            <a:ext cx="2203704" cy="1097280"/>
          </a:xfrm>
          <a:prstGeom prst="rect">
            <a:avLst/>
          </a:prstGeom>
          <a:noFill/>
          <a:ln/>
        </p:spPr>
        <p:txBody>
          <a:bodyPr wrap="square" lIns="0" tIns="0" rIns="0" bIns="0" rtlCol="0" anchor="t"/>
          <a:lstStyle/>
          <a:p>
            <a:pPr indent="0" marL="0">
              <a:buNone/>
            </a:pPr>
            <a:r>
              <a:rPr lang="en-US" sz="1300" dirty="0">
                <a:solidFill>
                  <a:srgbClr val="5B6B80"/>
                </a:solidFill>
                <a:latin typeface="Calibri" pitchFamily="34" charset="0"/>
                <a:ea typeface="Calibri" pitchFamily="34" charset="-122"/>
                <a:cs typeface="Calibri" pitchFamily="34" charset="-120"/>
              </a:rPr>
              <a:t>Safety steps (unplug, engine off and cool) must be confirmed before any repair step unlocks.</a:t>
            </a:r>
            <a:endParaRPr lang="en-US" sz="1300" dirty="0"/>
          </a:p>
        </p:txBody>
      </p:sp>
      <p:sp>
        <p:nvSpPr>
          <p:cNvPr id="19" name="Shape 14"/>
          <p:cNvSpPr/>
          <p:nvPr/>
        </p:nvSpPr>
        <p:spPr>
          <a:xfrm>
            <a:off x="8997696" y="1371600"/>
            <a:ext cx="2615184" cy="2560320"/>
          </a:xfrm>
          <a:prstGeom prst="roundRect">
            <a:avLst>
              <a:gd name="adj" fmla="val 5357"/>
            </a:avLst>
          </a:prstGeom>
          <a:solidFill>
            <a:srgbClr val="EEF2F7"/>
          </a:solidFill>
          <a:ln w="12700">
            <a:solidFill>
              <a:srgbClr val="EEF2F7"/>
            </a:solidFill>
            <a:prstDash val="solid"/>
          </a:ln>
        </p:spPr>
      </p:sp>
      <p:sp>
        <p:nvSpPr>
          <p:cNvPr id="20" name="Shape 15"/>
          <p:cNvSpPr/>
          <p:nvPr/>
        </p:nvSpPr>
        <p:spPr>
          <a:xfrm>
            <a:off x="9226296" y="1627632"/>
            <a:ext cx="603504" cy="603504"/>
          </a:xfrm>
          <a:prstGeom prst="ellipse">
            <a:avLst/>
          </a:prstGeom>
          <a:solidFill>
            <a:srgbClr val="0F1C2E"/>
          </a:solidFill>
          <a:ln w="12700">
            <a:solidFill>
              <a:srgbClr val="0F1C2E"/>
            </a:solidFill>
            <a:prstDash val="solid"/>
          </a:ln>
        </p:spPr>
      </p:sp>
      <p:pic>
        <p:nvPicPr>
          <p:cNvPr id="21" name="Image 3" descr="preencoded.png">    </p:cNvPr>
          <p:cNvPicPr>
            <a:picLocks noChangeAspect="1"/>
          </p:cNvPicPr>
          <p:nvPr/>
        </p:nvPicPr>
        <p:blipFill>
          <a:blip r:embed="rId4"/>
          <a:stretch>
            <a:fillRect/>
          </a:stretch>
        </p:blipFill>
        <p:spPr>
          <a:xfrm>
            <a:off x="9372600" y="1773936"/>
            <a:ext cx="310896" cy="310896"/>
          </a:xfrm>
          <a:prstGeom prst="rect">
            <a:avLst/>
          </a:prstGeom>
        </p:spPr>
      </p:pic>
      <p:sp>
        <p:nvSpPr>
          <p:cNvPr id="22" name="Text 16"/>
          <p:cNvSpPr txBox="1"/>
          <p:nvPr/>
        </p:nvSpPr>
        <p:spPr>
          <a:xfrm>
            <a:off x="9226296" y="2359152"/>
            <a:ext cx="2203704" cy="365760"/>
          </a:xfrm>
          <a:prstGeom prst="rect">
            <a:avLst/>
          </a:prstGeom>
          <a:noFill/>
          <a:ln/>
        </p:spPr>
        <p:txBody>
          <a:bodyPr wrap="square" lIns="0" tIns="0" rIns="0" bIns="0" rtlCol="0" anchor="ctr"/>
          <a:lstStyle/>
          <a:p>
            <a:pPr indent="0" marL="0">
              <a:buNone/>
            </a:pPr>
            <a:r>
              <a:rPr lang="en-US" sz="1600" b="1" dirty="0">
                <a:solidFill>
                  <a:srgbClr val="0F1C2E"/>
                </a:solidFill>
                <a:latin typeface="Arial" pitchFamily="34" charset="0"/>
                <a:ea typeface="Arial" pitchFamily="34" charset="-122"/>
                <a:cs typeface="Arial" pitchFamily="34" charset="-120"/>
              </a:rPr>
              <a:t>Knows when to stop</a:t>
            </a:r>
            <a:endParaRPr lang="en-US" sz="1600" dirty="0"/>
          </a:p>
        </p:txBody>
      </p:sp>
      <p:sp>
        <p:nvSpPr>
          <p:cNvPr id="23" name="Text 17"/>
          <p:cNvSpPr txBox="1"/>
          <p:nvPr/>
        </p:nvSpPr>
        <p:spPr>
          <a:xfrm>
            <a:off x="9226296" y="2743200"/>
            <a:ext cx="2203704" cy="1097280"/>
          </a:xfrm>
          <a:prstGeom prst="rect">
            <a:avLst/>
          </a:prstGeom>
          <a:noFill/>
          <a:ln/>
        </p:spPr>
        <p:txBody>
          <a:bodyPr wrap="square" lIns="0" tIns="0" rIns="0" bIns="0" rtlCol="0" anchor="t"/>
          <a:lstStyle/>
          <a:p>
            <a:pPr indent="0" marL="0">
              <a:buNone/>
            </a:pPr>
            <a:r>
              <a:rPr lang="en-US" sz="1300" dirty="0">
                <a:solidFill>
                  <a:srgbClr val="5B6B80"/>
                </a:solidFill>
                <a:latin typeface="Calibri" pitchFamily="34" charset="0"/>
                <a:ea typeface="Calibri" pitchFamily="34" charset="-122"/>
                <a:cs typeface="Calibri" pitchFamily="34" charset="-120"/>
              </a:rPr>
              <a:t>Wiring or anything risky? Fixy says “please call a technician” instead of guessing.</a:t>
            </a:r>
            <a:endParaRPr lang="en-US" sz="1300" dirty="0"/>
          </a:p>
        </p:txBody>
      </p:sp>
      <p:sp>
        <p:nvSpPr>
          <p:cNvPr id="24" name="Text 18"/>
          <p:cNvSpPr txBox="1"/>
          <p:nvPr/>
        </p:nvSpPr>
        <p:spPr>
          <a:xfrm>
            <a:off x="548640" y="4160520"/>
            <a:ext cx="5486400" cy="320040"/>
          </a:xfrm>
          <a:prstGeom prst="rect">
            <a:avLst/>
          </a:prstGeom>
          <a:noFill/>
          <a:ln/>
        </p:spPr>
        <p:txBody>
          <a:bodyPr wrap="square" lIns="0" tIns="0" rIns="0" bIns="0" rtlCol="0" anchor="ctr"/>
          <a:lstStyle/>
          <a:p>
            <a:pPr indent="0" marL="0">
              <a:buNone/>
            </a:pPr>
            <a:r>
              <a:rPr lang="en-US" sz="1500" b="1" dirty="0">
                <a:solidFill>
                  <a:srgbClr val="0F1C2E"/>
                </a:solidFill>
                <a:latin typeface="Arial" pitchFamily="34" charset="0"/>
                <a:ea typeface="Arial" pitchFamily="34" charset="-122"/>
                <a:cs typeface="Arial" pitchFamily="34" charset="-120"/>
              </a:rPr>
              <a:t>Speed targets on the iQOO 15</a:t>
            </a:r>
            <a:endParaRPr lang="en-US" sz="1500" dirty="0"/>
          </a:p>
        </p:txBody>
      </p:sp>
      <p:sp>
        <p:nvSpPr>
          <p:cNvPr id="25" name="Text 19"/>
          <p:cNvSpPr txBox="1"/>
          <p:nvPr/>
        </p:nvSpPr>
        <p:spPr>
          <a:xfrm>
            <a:off x="548640" y="4480560"/>
            <a:ext cx="1920240" cy="640080"/>
          </a:xfrm>
          <a:prstGeom prst="rect">
            <a:avLst/>
          </a:prstGeom>
          <a:noFill/>
          <a:ln/>
        </p:spPr>
        <p:txBody>
          <a:bodyPr wrap="square" lIns="0" tIns="0" rIns="0" bIns="0" rtlCol="0" anchor="ctr"/>
          <a:lstStyle/>
          <a:p>
            <a:pPr indent="0" marL="0">
              <a:buNone/>
            </a:pPr>
            <a:r>
              <a:rPr lang="en-US" sz="3000" b="1" dirty="0">
                <a:solidFill>
                  <a:srgbClr val="0F1C2E"/>
                </a:solidFill>
                <a:latin typeface="Arial" pitchFamily="34" charset="0"/>
                <a:ea typeface="Arial" pitchFamily="34" charset="-122"/>
                <a:cs typeface="Arial" pitchFamily="34" charset="-120"/>
              </a:rPr>
              <a:t>~2–3 s</a:t>
            </a:r>
            <a:endParaRPr lang="en-US" sz="3000" dirty="0"/>
          </a:p>
        </p:txBody>
      </p:sp>
      <p:sp>
        <p:nvSpPr>
          <p:cNvPr id="26" name="Text 20"/>
          <p:cNvSpPr txBox="1"/>
          <p:nvPr/>
        </p:nvSpPr>
        <p:spPr>
          <a:xfrm>
            <a:off x="548640" y="5074920"/>
            <a:ext cx="1783080" cy="502920"/>
          </a:xfrm>
          <a:prstGeom prst="rect">
            <a:avLst/>
          </a:prstGeom>
          <a:noFill/>
          <a:ln/>
        </p:spPr>
        <p:txBody>
          <a:bodyPr wrap="square" lIns="0" tIns="0" rIns="0" bIns="0" rtlCol="0" anchor="t"/>
          <a:lstStyle/>
          <a:p>
            <a:pPr indent="0" marL="0">
              <a:buNone/>
            </a:pPr>
            <a:r>
              <a:rPr lang="en-US" sz="1200" dirty="0">
                <a:solidFill>
                  <a:srgbClr val="5B6B80"/>
                </a:solidFill>
                <a:latin typeface="Calibri" pitchFamily="34" charset="0"/>
                <a:ea typeface="Calibri" pitchFamily="34" charset="-122"/>
                <a:cs typeface="Calibri" pitchFamily="34" charset="-120"/>
              </a:rPr>
              <a:t>from your question to Fixy's first word</a:t>
            </a:r>
            <a:endParaRPr lang="en-US" sz="1200" dirty="0"/>
          </a:p>
        </p:txBody>
      </p:sp>
      <p:sp>
        <p:nvSpPr>
          <p:cNvPr id="27" name="Text 21"/>
          <p:cNvSpPr txBox="1"/>
          <p:nvPr/>
        </p:nvSpPr>
        <p:spPr>
          <a:xfrm>
            <a:off x="2560320" y="4480560"/>
            <a:ext cx="1920240" cy="640080"/>
          </a:xfrm>
          <a:prstGeom prst="rect">
            <a:avLst/>
          </a:prstGeom>
          <a:noFill/>
          <a:ln/>
        </p:spPr>
        <p:txBody>
          <a:bodyPr wrap="square" lIns="0" tIns="0" rIns="0" bIns="0" rtlCol="0" anchor="ctr"/>
          <a:lstStyle/>
          <a:p>
            <a:pPr indent="0" marL="0">
              <a:buNone/>
            </a:pPr>
            <a:r>
              <a:rPr lang="en-US" sz="3000" b="1" dirty="0">
                <a:solidFill>
                  <a:srgbClr val="0F1C2E"/>
                </a:solidFill>
                <a:latin typeface="Arial" pitchFamily="34" charset="0"/>
                <a:ea typeface="Arial" pitchFamily="34" charset="-122"/>
                <a:cs typeface="Arial" pitchFamily="34" charset="-120"/>
              </a:rPr>
              <a:t>30 fps</a:t>
            </a:r>
            <a:endParaRPr lang="en-US" sz="3000" dirty="0"/>
          </a:p>
        </p:txBody>
      </p:sp>
      <p:sp>
        <p:nvSpPr>
          <p:cNvPr id="28" name="Text 22"/>
          <p:cNvSpPr txBox="1"/>
          <p:nvPr/>
        </p:nvSpPr>
        <p:spPr>
          <a:xfrm>
            <a:off x="2560320" y="5074920"/>
            <a:ext cx="1783080" cy="502920"/>
          </a:xfrm>
          <a:prstGeom prst="rect">
            <a:avLst/>
          </a:prstGeom>
          <a:noFill/>
          <a:ln/>
        </p:spPr>
        <p:txBody>
          <a:bodyPr wrap="square" lIns="0" tIns="0" rIns="0" bIns="0" rtlCol="0" anchor="t"/>
          <a:lstStyle/>
          <a:p>
            <a:pPr indent="0" marL="0">
              <a:buNone/>
            </a:pPr>
            <a:r>
              <a:rPr lang="en-US" sz="1200" dirty="0">
                <a:solidFill>
                  <a:srgbClr val="5B6B80"/>
                </a:solidFill>
                <a:latin typeface="Calibri" pitchFamily="34" charset="0"/>
                <a:ea typeface="Calibri" pitchFamily="34" charset="-122"/>
                <a:cs typeface="Calibri" pitchFamily="34" charset="-120"/>
              </a:rPr>
              <a:t>marker tracking as you move</a:t>
            </a:r>
            <a:endParaRPr lang="en-US" sz="1200" dirty="0"/>
          </a:p>
        </p:txBody>
      </p:sp>
      <p:sp>
        <p:nvSpPr>
          <p:cNvPr id="29" name="Text 23"/>
          <p:cNvSpPr txBox="1"/>
          <p:nvPr/>
        </p:nvSpPr>
        <p:spPr>
          <a:xfrm>
            <a:off x="4572000" y="4480560"/>
            <a:ext cx="1920240" cy="640080"/>
          </a:xfrm>
          <a:prstGeom prst="rect">
            <a:avLst/>
          </a:prstGeom>
          <a:noFill/>
          <a:ln/>
        </p:spPr>
        <p:txBody>
          <a:bodyPr wrap="square" lIns="0" tIns="0" rIns="0" bIns="0" rtlCol="0" anchor="ctr"/>
          <a:lstStyle/>
          <a:p>
            <a:pPr indent="0" marL="0">
              <a:buNone/>
            </a:pPr>
            <a:r>
              <a:rPr lang="en-US" sz="3000" b="1" dirty="0">
                <a:solidFill>
                  <a:srgbClr val="0F1C2E"/>
                </a:solidFill>
                <a:latin typeface="Arial" pitchFamily="34" charset="0"/>
                <a:ea typeface="Arial" pitchFamily="34" charset="-122"/>
                <a:cs typeface="Arial" pitchFamily="34" charset="-120"/>
              </a:rPr>
              <a:t>&lt; 5 ms</a:t>
            </a:r>
            <a:endParaRPr lang="en-US" sz="3000" dirty="0"/>
          </a:p>
        </p:txBody>
      </p:sp>
      <p:sp>
        <p:nvSpPr>
          <p:cNvPr id="30" name="Text 24"/>
          <p:cNvSpPr txBox="1"/>
          <p:nvPr/>
        </p:nvSpPr>
        <p:spPr>
          <a:xfrm>
            <a:off x="4572000" y="5074920"/>
            <a:ext cx="1783080" cy="502920"/>
          </a:xfrm>
          <a:prstGeom prst="rect">
            <a:avLst/>
          </a:prstGeom>
          <a:noFill/>
          <a:ln/>
        </p:spPr>
        <p:txBody>
          <a:bodyPr wrap="square" lIns="0" tIns="0" rIns="0" bIns="0" rtlCol="0" anchor="t"/>
          <a:lstStyle/>
          <a:p>
            <a:pPr indent="0" marL="0">
              <a:buNone/>
            </a:pPr>
            <a:r>
              <a:rPr lang="en-US" sz="1200" dirty="0">
                <a:solidFill>
                  <a:srgbClr val="5B6B80"/>
                </a:solidFill>
                <a:latin typeface="Calibri" pitchFamily="34" charset="0"/>
                <a:ea typeface="Calibri" pitchFamily="34" charset="-122"/>
                <a:cs typeface="Calibri" pitchFamily="34" charset="-120"/>
              </a:rPr>
              <a:t>knowledge-base lookup</a:t>
            </a:r>
            <a:endParaRPr lang="en-US" sz="1200" dirty="0"/>
          </a:p>
        </p:txBody>
      </p:sp>
      <p:sp>
        <p:nvSpPr>
          <p:cNvPr id="31" name="Text 25"/>
          <p:cNvSpPr txBox="1"/>
          <p:nvPr/>
        </p:nvSpPr>
        <p:spPr>
          <a:xfrm>
            <a:off x="6583680" y="4480560"/>
            <a:ext cx="1920240" cy="640080"/>
          </a:xfrm>
          <a:prstGeom prst="rect">
            <a:avLst/>
          </a:prstGeom>
          <a:noFill/>
          <a:ln/>
        </p:spPr>
        <p:txBody>
          <a:bodyPr wrap="square" lIns="0" tIns="0" rIns="0" bIns="0" rtlCol="0" anchor="ctr"/>
          <a:lstStyle/>
          <a:p>
            <a:pPr indent="0" marL="0">
              <a:buNone/>
            </a:pPr>
            <a:r>
              <a:rPr lang="en-US" sz="3000" b="1" dirty="0">
                <a:solidFill>
                  <a:srgbClr val="0F1C2E"/>
                </a:solidFill>
                <a:latin typeface="Arial" pitchFamily="34" charset="0"/>
                <a:ea typeface="Arial" pitchFamily="34" charset="-122"/>
                <a:cs typeface="Arial" pitchFamily="34" charset="-120"/>
              </a:rPr>
              <a:t>0 bytes</a:t>
            </a:r>
            <a:endParaRPr lang="en-US" sz="3000" dirty="0"/>
          </a:p>
        </p:txBody>
      </p:sp>
      <p:sp>
        <p:nvSpPr>
          <p:cNvPr id="32" name="Text 26"/>
          <p:cNvSpPr txBox="1"/>
          <p:nvPr/>
        </p:nvSpPr>
        <p:spPr>
          <a:xfrm>
            <a:off x="6583680" y="5074920"/>
            <a:ext cx="1783080" cy="502920"/>
          </a:xfrm>
          <a:prstGeom prst="rect">
            <a:avLst/>
          </a:prstGeom>
          <a:noFill/>
          <a:ln/>
        </p:spPr>
        <p:txBody>
          <a:bodyPr wrap="square" lIns="0" tIns="0" rIns="0" bIns="0" rtlCol="0" anchor="t"/>
          <a:lstStyle/>
          <a:p>
            <a:pPr indent="0" marL="0">
              <a:buNone/>
            </a:pPr>
            <a:r>
              <a:rPr lang="en-US" sz="1200" dirty="0">
                <a:solidFill>
                  <a:srgbClr val="5B6B80"/>
                </a:solidFill>
                <a:latin typeface="Calibri" pitchFamily="34" charset="0"/>
                <a:ea typeface="Calibri" pitchFamily="34" charset="-122"/>
                <a:cs typeface="Calibri" pitchFamily="34" charset="-120"/>
              </a:rPr>
              <a:t>sent to any server</a:t>
            </a:r>
            <a:endParaRPr lang="en-US" sz="1200" dirty="0"/>
          </a:p>
        </p:txBody>
      </p:sp>
      <p:sp>
        <p:nvSpPr>
          <p:cNvPr id="33" name="Text 27"/>
          <p:cNvSpPr txBox="1"/>
          <p:nvPr/>
        </p:nvSpPr>
        <p:spPr>
          <a:xfrm>
            <a:off x="548640" y="5669280"/>
            <a:ext cx="2743200" cy="274320"/>
          </a:xfrm>
          <a:prstGeom prst="rect">
            <a:avLst/>
          </a:prstGeom>
          <a:noFill/>
          <a:ln/>
        </p:spPr>
        <p:txBody>
          <a:bodyPr wrap="square" lIns="0" tIns="0" rIns="0" bIns="0" rtlCol="0" anchor="ctr"/>
          <a:lstStyle/>
          <a:p>
            <a:pPr indent="0" marL="0">
              <a:buNone/>
            </a:pPr>
            <a:r>
              <a:rPr lang="en-US" sz="1200" b="1" dirty="0">
                <a:solidFill>
                  <a:srgbClr val="0F1C2E"/>
                </a:solidFill>
                <a:latin typeface="Arial" pitchFamily="34" charset="0"/>
                <a:ea typeface="Arial" pitchFamily="34" charset="-122"/>
                <a:cs typeface="Arial" pitchFamily="34" charset="-120"/>
              </a:rPr>
              <a:t>Open-source stack</a:t>
            </a:r>
            <a:endParaRPr lang="en-US" sz="1200" dirty="0"/>
          </a:p>
        </p:txBody>
      </p:sp>
      <p:sp>
        <p:nvSpPr>
          <p:cNvPr id="34" name="Shape 28"/>
          <p:cNvSpPr/>
          <p:nvPr/>
        </p:nvSpPr>
        <p:spPr>
          <a:xfrm>
            <a:off x="548640" y="5961888"/>
            <a:ext cx="1549908" cy="310896"/>
          </a:xfrm>
          <a:prstGeom prst="roundRect">
            <a:avLst>
              <a:gd name="adj" fmla="val 50000"/>
            </a:avLst>
          </a:prstGeom>
          <a:solidFill>
            <a:srgbClr val="FFFFFF"/>
          </a:solidFill>
          <a:ln w="12700">
            <a:solidFill>
              <a:srgbClr val="C9D2DE"/>
            </a:solidFill>
            <a:prstDash val="solid"/>
          </a:ln>
        </p:spPr>
      </p:sp>
      <p:sp>
        <p:nvSpPr>
          <p:cNvPr id="35" name="Text 29"/>
          <p:cNvSpPr txBox="1"/>
          <p:nvPr/>
        </p:nvSpPr>
        <p:spPr>
          <a:xfrm>
            <a:off x="548640" y="5961888"/>
            <a:ext cx="1549908" cy="310896"/>
          </a:xfrm>
          <a:prstGeom prst="rect">
            <a:avLst/>
          </a:prstGeom>
          <a:noFill/>
          <a:ln/>
        </p:spPr>
        <p:txBody>
          <a:bodyPr wrap="square" lIns="0" tIns="0" rIns="0" bIns="0" rtlCol="0" anchor="ctr"/>
          <a:lstStyle/>
          <a:p>
            <a:pPr algn="ctr" indent="0" marL="0">
              <a:buNone/>
            </a:pPr>
            <a:r>
              <a:rPr lang="en-US" sz="1100" dirty="0">
                <a:solidFill>
                  <a:srgbClr val="0F1C2E"/>
                </a:solidFill>
                <a:latin typeface="Calibri" pitchFamily="34" charset="0"/>
                <a:ea typeface="Calibri" pitchFamily="34" charset="-122"/>
                <a:cs typeface="Calibri" pitchFamily="34" charset="-120"/>
              </a:rPr>
              <a:t>Qwen3-VL-4B + MNN</a:t>
            </a:r>
            <a:endParaRPr lang="en-US" sz="1100" dirty="0"/>
          </a:p>
        </p:txBody>
      </p:sp>
      <p:sp>
        <p:nvSpPr>
          <p:cNvPr id="36" name="Shape 30"/>
          <p:cNvSpPr/>
          <p:nvPr/>
        </p:nvSpPr>
        <p:spPr>
          <a:xfrm>
            <a:off x="2208276" y="5961888"/>
            <a:ext cx="694944" cy="310896"/>
          </a:xfrm>
          <a:prstGeom prst="roundRect">
            <a:avLst>
              <a:gd name="adj" fmla="val 50000"/>
            </a:avLst>
          </a:prstGeom>
          <a:solidFill>
            <a:srgbClr val="FFFFFF"/>
          </a:solidFill>
          <a:ln w="12700">
            <a:solidFill>
              <a:srgbClr val="C9D2DE"/>
            </a:solidFill>
            <a:prstDash val="solid"/>
          </a:ln>
        </p:spPr>
      </p:sp>
      <p:sp>
        <p:nvSpPr>
          <p:cNvPr id="37" name="Text 31"/>
          <p:cNvSpPr txBox="1"/>
          <p:nvPr/>
        </p:nvSpPr>
        <p:spPr>
          <a:xfrm>
            <a:off x="2208276" y="5961888"/>
            <a:ext cx="694944" cy="310896"/>
          </a:xfrm>
          <a:prstGeom prst="rect">
            <a:avLst/>
          </a:prstGeom>
          <a:noFill/>
          <a:ln/>
        </p:spPr>
        <p:txBody>
          <a:bodyPr wrap="square" lIns="0" tIns="0" rIns="0" bIns="0" rtlCol="0" anchor="ctr"/>
          <a:lstStyle/>
          <a:p>
            <a:pPr algn="ctr" indent="0" marL="0">
              <a:buNone/>
            </a:pPr>
            <a:r>
              <a:rPr lang="en-US" sz="1100" dirty="0">
                <a:solidFill>
                  <a:srgbClr val="0F1C2E"/>
                </a:solidFill>
                <a:latin typeface="Calibri" pitchFamily="34" charset="0"/>
                <a:ea typeface="Calibri" pitchFamily="34" charset="-122"/>
                <a:cs typeface="Calibri" pitchFamily="34" charset="-120"/>
              </a:rPr>
              <a:t>OpenCV</a:t>
            </a:r>
            <a:endParaRPr lang="en-US" sz="1100" dirty="0"/>
          </a:p>
        </p:txBody>
      </p:sp>
      <p:sp>
        <p:nvSpPr>
          <p:cNvPr id="38" name="Shape 32"/>
          <p:cNvSpPr/>
          <p:nvPr/>
        </p:nvSpPr>
        <p:spPr>
          <a:xfrm>
            <a:off x="3012948" y="5961888"/>
            <a:ext cx="1083564" cy="310896"/>
          </a:xfrm>
          <a:prstGeom prst="roundRect">
            <a:avLst>
              <a:gd name="adj" fmla="val 50000"/>
            </a:avLst>
          </a:prstGeom>
          <a:solidFill>
            <a:srgbClr val="FFFFFF"/>
          </a:solidFill>
          <a:ln w="12700">
            <a:solidFill>
              <a:srgbClr val="C9D2DE"/>
            </a:solidFill>
            <a:prstDash val="solid"/>
          </a:ln>
        </p:spPr>
      </p:sp>
      <p:sp>
        <p:nvSpPr>
          <p:cNvPr id="39" name="Text 33"/>
          <p:cNvSpPr txBox="1"/>
          <p:nvPr/>
        </p:nvSpPr>
        <p:spPr>
          <a:xfrm>
            <a:off x="3012948" y="5961888"/>
            <a:ext cx="1083564" cy="310896"/>
          </a:xfrm>
          <a:prstGeom prst="rect">
            <a:avLst/>
          </a:prstGeom>
          <a:noFill/>
          <a:ln/>
        </p:spPr>
        <p:txBody>
          <a:bodyPr wrap="square" lIns="0" tIns="0" rIns="0" bIns="0" rtlCol="0" anchor="ctr"/>
          <a:lstStyle/>
          <a:p>
            <a:pPr algn="ctr" indent="0" marL="0">
              <a:buNone/>
            </a:pPr>
            <a:r>
              <a:rPr lang="en-US" sz="1100" dirty="0">
                <a:solidFill>
                  <a:srgbClr val="0F1C2E"/>
                </a:solidFill>
                <a:latin typeface="Calibri" pitchFamily="34" charset="0"/>
                <a:ea typeface="Calibri" pitchFamily="34" charset="-122"/>
                <a:cs typeface="Calibri" pitchFamily="34" charset="-120"/>
              </a:rPr>
              <a:t>sherpa-onnx</a:t>
            </a:r>
            <a:endParaRPr lang="en-US" sz="1100" dirty="0"/>
          </a:p>
        </p:txBody>
      </p:sp>
      <p:sp>
        <p:nvSpPr>
          <p:cNvPr id="40" name="Shape 34"/>
          <p:cNvSpPr/>
          <p:nvPr/>
        </p:nvSpPr>
        <p:spPr>
          <a:xfrm>
            <a:off x="4206240" y="5961888"/>
            <a:ext cx="928116" cy="310896"/>
          </a:xfrm>
          <a:prstGeom prst="roundRect">
            <a:avLst>
              <a:gd name="adj" fmla="val 50000"/>
            </a:avLst>
          </a:prstGeom>
          <a:solidFill>
            <a:srgbClr val="FFFFFF"/>
          </a:solidFill>
          <a:ln w="12700">
            <a:solidFill>
              <a:srgbClr val="C9D2DE"/>
            </a:solidFill>
            <a:prstDash val="solid"/>
          </a:ln>
        </p:spPr>
      </p:sp>
      <p:sp>
        <p:nvSpPr>
          <p:cNvPr id="41" name="Text 35"/>
          <p:cNvSpPr txBox="1"/>
          <p:nvPr/>
        </p:nvSpPr>
        <p:spPr>
          <a:xfrm>
            <a:off x="4206240" y="5961888"/>
            <a:ext cx="928116" cy="310896"/>
          </a:xfrm>
          <a:prstGeom prst="rect">
            <a:avLst/>
          </a:prstGeom>
          <a:noFill/>
          <a:ln/>
        </p:spPr>
        <p:txBody>
          <a:bodyPr wrap="square" lIns="0" tIns="0" rIns="0" bIns="0" rtlCol="0" anchor="ctr"/>
          <a:lstStyle/>
          <a:p>
            <a:pPr algn="ctr" indent="0" marL="0">
              <a:buNone/>
            </a:pPr>
            <a:r>
              <a:rPr lang="en-US" sz="1100" dirty="0">
                <a:solidFill>
                  <a:srgbClr val="0F1C2E"/>
                </a:solidFill>
                <a:latin typeface="Calibri" pitchFamily="34" charset="0"/>
                <a:ea typeface="Calibri" pitchFamily="34" charset="-122"/>
                <a:cs typeface="Calibri" pitchFamily="34" charset="-120"/>
              </a:rPr>
              <a:t>Moonshine</a:t>
            </a:r>
            <a:endParaRPr lang="en-US" sz="1100" dirty="0"/>
          </a:p>
        </p:txBody>
      </p:sp>
      <p:sp>
        <p:nvSpPr>
          <p:cNvPr id="42" name="Shape 36"/>
          <p:cNvSpPr/>
          <p:nvPr/>
        </p:nvSpPr>
        <p:spPr>
          <a:xfrm>
            <a:off x="5244084" y="5961888"/>
            <a:ext cx="1472184" cy="310896"/>
          </a:xfrm>
          <a:prstGeom prst="roundRect">
            <a:avLst>
              <a:gd name="adj" fmla="val 50000"/>
            </a:avLst>
          </a:prstGeom>
          <a:solidFill>
            <a:srgbClr val="FFFFFF"/>
          </a:solidFill>
          <a:ln w="12700">
            <a:solidFill>
              <a:srgbClr val="C9D2DE"/>
            </a:solidFill>
            <a:prstDash val="solid"/>
          </a:ln>
        </p:spPr>
      </p:sp>
      <p:sp>
        <p:nvSpPr>
          <p:cNvPr id="43" name="Text 37"/>
          <p:cNvSpPr txBox="1"/>
          <p:nvPr/>
        </p:nvSpPr>
        <p:spPr>
          <a:xfrm>
            <a:off x="5244084" y="5961888"/>
            <a:ext cx="1472184" cy="310896"/>
          </a:xfrm>
          <a:prstGeom prst="rect">
            <a:avLst/>
          </a:prstGeom>
          <a:noFill/>
          <a:ln/>
        </p:spPr>
        <p:txBody>
          <a:bodyPr wrap="square" lIns="0" tIns="0" rIns="0" bIns="0" rtlCol="0" anchor="ctr"/>
          <a:lstStyle/>
          <a:p>
            <a:pPr algn="ctr" indent="0" marL="0">
              <a:buNone/>
            </a:pPr>
            <a:r>
              <a:rPr lang="en-US" sz="1100" dirty="0">
                <a:solidFill>
                  <a:srgbClr val="0F1C2E"/>
                </a:solidFill>
                <a:latin typeface="Calibri" pitchFamily="34" charset="0"/>
                <a:ea typeface="Calibri" pitchFamily="34" charset="-122"/>
                <a:cs typeface="Calibri" pitchFamily="34" charset="-120"/>
              </a:rPr>
              <a:t>Kotlin + Compose</a:t>
            </a:r>
            <a:endParaRPr lang="en-US" sz="1100" dirty="0"/>
          </a:p>
        </p:txBody>
      </p:sp>
      <p:sp>
        <p:nvSpPr>
          <p:cNvPr id="44" name="Shape 38"/>
          <p:cNvSpPr/>
          <p:nvPr/>
        </p:nvSpPr>
        <p:spPr>
          <a:xfrm>
            <a:off x="6825996" y="5961888"/>
            <a:ext cx="772668" cy="310896"/>
          </a:xfrm>
          <a:prstGeom prst="roundRect">
            <a:avLst>
              <a:gd name="adj" fmla="val 50000"/>
            </a:avLst>
          </a:prstGeom>
          <a:solidFill>
            <a:srgbClr val="FFFFFF"/>
          </a:solidFill>
          <a:ln w="12700">
            <a:solidFill>
              <a:srgbClr val="C9D2DE"/>
            </a:solidFill>
            <a:prstDash val="solid"/>
          </a:ln>
        </p:spPr>
      </p:sp>
      <p:sp>
        <p:nvSpPr>
          <p:cNvPr id="45" name="Text 39"/>
          <p:cNvSpPr txBox="1"/>
          <p:nvPr/>
        </p:nvSpPr>
        <p:spPr>
          <a:xfrm>
            <a:off x="6825996" y="5961888"/>
            <a:ext cx="772668" cy="310896"/>
          </a:xfrm>
          <a:prstGeom prst="rect">
            <a:avLst/>
          </a:prstGeom>
          <a:noFill/>
          <a:ln/>
        </p:spPr>
        <p:txBody>
          <a:bodyPr wrap="square" lIns="0" tIns="0" rIns="0" bIns="0" rtlCol="0" anchor="ctr"/>
          <a:lstStyle/>
          <a:p>
            <a:pPr algn="ctr" indent="0" marL="0">
              <a:buNone/>
            </a:pPr>
            <a:r>
              <a:rPr lang="en-US" sz="1100" dirty="0">
                <a:solidFill>
                  <a:srgbClr val="0F1C2E"/>
                </a:solidFill>
                <a:latin typeface="Calibri" pitchFamily="34" charset="0"/>
                <a:ea typeface="Calibri" pitchFamily="34" charset="-122"/>
                <a:cs typeface="Calibri" pitchFamily="34" charset="-120"/>
              </a:rPr>
              <a:t>CameraX</a:t>
            </a:r>
            <a:endParaRPr lang="en-US" sz="1100" dirty="0"/>
          </a:p>
        </p:txBody>
      </p:sp>
      <p:pic>
        <p:nvPicPr>
          <p:cNvPr id="46" name="Image 4" descr="/tmp/claude-1000/-home-shiva-ajay-3D-IQOO-Hackathon/5b3f47cb-8e93-474d-997b-1b20d1cf681e/scratchpad/deck/assets/fixy-caution.png">    </p:cNvPr>
          <p:cNvPicPr>
            <a:picLocks noChangeAspect="1"/>
          </p:cNvPicPr>
          <p:nvPr/>
        </p:nvPicPr>
        <p:blipFill>
          <a:blip r:embed="rId5"/>
          <a:stretch>
            <a:fillRect/>
          </a:stretch>
        </p:blipFill>
        <p:spPr>
          <a:xfrm>
            <a:off x="8915400" y="3886200"/>
            <a:ext cx="2377440" cy="2377440"/>
          </a:xfrm>
          <a:prstGeom prst="rect">
            <a:avLst/>
          </a:prstGeom>
        </p:spPr>
      </p:pic>
      <p:pic>
        <p:nvPicPr>
          <p:cNvPr id="47" name="Image 5" descr="/tmp/claude-1000/-home-shiva-ajay-3D-IQOO-Hackathon/5b3f47cb-8e93-474d-997b-1b20d1cf681e/scratchpad/deck/assets/fixlens-logo.png">    </p:cNvPr>
          <p:cNvPicPr>
            <a:picLocks noChangeAspect="1"/>
          </p:cNvPicPr>
          <p:nvPr/>
        </p:nvPicPr>
        <p:blipFill>
          <a:blip r:embed="rId6"/>
          <a:stretch>
            <a:fillRect/>
          </a:stretch>
        </p:blipFill>
        <p:spPr>
          <a:xfrm>
            <a:off x="10378440" y="6355080"/>
            <a:ext cx="1234440" cy="365760"/>
          </a:xfrm>
          <a:prstGeom prst="rect">
            <a:avLst/>
          </a:prstGeom>
        </p:spPr>
      </p:pic>
      <p:sp>
        <p:nvSpPr>
          <p:cNvPr id="48" name="Text 40"/>
          <p:cNvSpPr txBox="1"/>
          <p:nvPr/>
        </p:nvSpPr>
        <p:spPr>
          <a:xfrm>
            <a:off x="548640" y="6355080"/>
            <a:ext cx="457200" cy="365760"/>
          </a:xfrm>
          <a:prstGeom prst="rect">
            <a:avLst/>
          </a:prstGeom>
          <a:noFill/>
          <a:ln/>
        </p:spPr>
        <p:txBody>
          <a:bodyPr wrap="square" lIns="0" tIns="0" rIns="0" bIns="0" rtlCol="0" anchor="ctr"/>
          <a:lstStyle/>
          <a:p>
            <a:pPr indent="0" marL="0">
              <a:buNone/>
            </a:pPr>
            <a:r>
              <a:rPr lang="en-US" sz="1100" dirty="0">
                <a:solidFill>
                  <a:srgbClr val="5B6B80"/>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C2E"/>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8FA0B6"/>
                </a:solidFill>
                <a:latin typeface="Calibri" pitchFamily="34" charset="0"/>
                <a:ea typeface="Calibri" pitchFamily="34" charset="-122"/>
                <a:cs typeface="Calibri" pitchFamily="34" charset="-120"/>
              </a:rPr>
              <a:t>DEMO AND ROAD AHEAD</a:t>
            </a:r>
            <a:endParaRPr lang="en-US" sz="1200" dirty="0"/>
          </a:p>
        </p:txBody>
      </p:sp>
      <p:sp>
        <p:nvSpPr>
          <p:cNvPr id="3" name="Text 1"/>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400" b="1" dirty="0">
                <a:solidFill>
                  <a:srgbClr val="F6F1E7"/>
                </a:solidFill>
                <a:latin typeface="Arial" pitchFamily="34" charset="0"/>
                <a:ea typeface="Arial" pitchFamily="34" charset="-122"/>
                <a:cs typeface="Arial" pitchFamily="34" charset="-120"/>
              </a:rPr>
              <a:t>What you'll see, and what comes next</a:t>
            </a:r>
            <a:endParaRPr lang="en-US" sz="3400" dirty="0"/>
          </a:p>
        </p:txBody>
      </p:sp>
      <p:sp>
        <p:nvSpPr>
          <p:cNvPr id="4" name="Shape 2"/>
          <p:cNvSpPr/>
          <p:nvPr/>
        </p:nvSpPr>
        <p:spPr>
          <a:xfrm>
            <a:off x="548640" y="1417320"/>
            <a:ext cx="6309360" cy="1371600"/>
          </a:xfrm>
          <a:prstGeom prst="roundRect">
            <a:avLst>
              <a:gd name="adj" fmla="val 10000"/>
            </a:avLst>
          </a:prstGeom>
          <a:solidFill>
            <a:srgbClr val="1B2E48"/>
          </a:solidFill>
          <a:ln w="12700">
            <a:solidFill>
              <a:srgbClr val="1B2E48"/>
            </a:solidFill>
            <a:prstDash val="solid"/>
          </a:ln>
        </p:spPr>
      </p:sp>
      <p:sp>
        <p:nvSpPr>
          <p:cNvPr id="5" name="Shape 3"/>
          <p:cNvSpPr/>
          <p:nvPr/>
        </p:nvSpPr>
        <p:spPr>
          <a:xfrm>
            <a:off x="777240" y="1783080"/>
            <a:ext cx="640080" cy="640080"/>
          </a:xfrm>
          <a:prstGeom prst="ellipse">
            <a:avLst/>
          </a:prstGeom>
          <a:solidFill>
            <a:srgbClr val="FF9F1C"/>
          </a:solidFill>
          <a:ln w="12700">
            <a:solidFill>
              <a:srgbClr val="FF9F1C"/>
            </a:solidFill>
            <a:prstDash val="solid"/>
          </a:ln>
        </p:spPr>
      </p:sp>
      <p:pic>
        <p:nvPicPr>
          <p:cNvPr id="6" name="Image 0" descr="preencoded.png">    </p:cNvPr>
          <p:cNvPicPr>
            <a:picLocks noChangeAspect="1"/>
          </p:cNvPicPr>
          <p:nvPr/>
        </p:nvPicPr>
        <p:blipFill>
          <a:blip r:embed="rId1"/>
          <a:stretch>
            <a:fillRect/>
          </a:stretch>
        </p:blipFill>
        <p:spPr>
          <a:xfrm>
            <a:off x="932688" y="1938528"/>
            <a:ext cx="329184" cy="329184"/>
          </a:xfrm>
          <a:prstGeom prst="rect">
            <a:avLst/>
          </a:prstGeom>
        </p:spPr>
      </p:pic>
      <p:sp>
        <p:nvSpPr>
          <p:cNvPr id="7" name="Text 4"/>
          <p:cNvSpPr txBox="1"/>
          <p:nvPr/>
        </p:nvSpPr>
        <p:spPr>
          <a:xfrm>
            <a:off x="1645920" y="1581912"/>
            <a:ext cx="5029200" cy="365760"/>
          </a:xfrm>
          <a:prstGeom prst="rect">
            <a:avLst/>
          </a:prstGeom>
          <a:noFill/>
          <a:ln/>
        </p:spPr>
        <p:txBody>
          <a:bodyPr wrap="square" lIns="0" tIns="0" rIns="0" bIns="0" rtlCol="0" anchor="ctr"/>
          <a:lstStyle/>
          <a:p>
            <a:pPr indent="0" marL="0">
              <a:buNone/>
            </a:pPr>
            <a:r>
              <a:rPr lang="en-US" sz="1700" b="1" dirty="0">
                <a:solidFill>
                  <a:srgbClr val="F6F1E7"/>
                </a:solidFill>
                <a:latin typeface="Arial" pitchFamily="34" charset="0"/>
                <a:ea typeface="Arial" pitchFamily="34" charset="-122"/>
                <a:cs typeface="Arial" pitchFamily="34" charset="-120"/>
              </a:rPr>
              <a:t>A real car's engine bay</a:t>
            </a:r>
            <a:endParaRPr lang="en-US" sz="1700" dirty="0"/>
          </a:p>
        </p:txBody>
      </p:sp>
      <p:sp>
        <p:nvSpPr>
          <p:cNvPr id="8" name="Text 5"/>
          <p:cNvSpPr txBox="1"/>
          <p:nvPr/>
        </p:nvSpPr>
        <p:spPr>
          <a:xfrm>
            <a:off x="1645920" y="1965960"/>
            <a:ext cx="5029200" cy="731520"/>
          </a:xfrm>
          <a:prstGeom prst="rect">
            <a:avLst/>
          </a:prstGeom>
          <a:noFill/>
          <a:ln/>
        </p:spPr>
        <p:txBody>
          <a:bodyPr wrap="square" lIns="0" tIns="0" rIns="0" bIns="0" rtlCol="0" anchor="t"/>
          <a:lstStyle/>
          <a:p>
            <a:pPr indent="0" marL="0">
              <a:buNone/>
            </a:pPr>
            <a:r>
              <a:rPr lang="en-US" sz="1350" dirty="0">
                <a:solidFill>
                  <a:srgbClr val="C6D0DD"/>
                </a:solidFill>
                <a:latin typeface="Calibri" pitchFamily="34" charset="0"/>
                <a:ea typeface="Calibri" pitchFamily="34" charset="-122"/>
                <a:cs typeface="Calibri" pitchFamily="34" charset="-120"/>
              </a:rPr>
              <a:t>Check the oil, coolant, washer fluid and battery. Then ask about wiring: Fixy refuses and suggests a mechanic.</a:t>
            </a:r>
            <a:endParaRPr lang="en-US" sz="1350" dirty="0"/>
          </a:p>
        </p:txBody>
      </p:sp>
      <p:sp>
        <p:nvSpPr>
          <p:cNvPr id="9" name="Shape 6"/>
          <p:cNvSpPr/>
          <p:nvPr/>
        </p:nvSpPr>
        <p:spPr>
          <a:xfrm>
            <a:off x="548640" y="2971800"/>
            <a:ext cx="6309360" cy="1371600"/>
          </a:xfrm>
          <a:prstGeom prst="roundRect">
            <a:avLst>
              <a:gd name="adj" fmla="val 10000"/>
            </a:avLst>
          </a:prstGeom>
          <a:solidFill>
            <a:srgbClr val="1B2E48"/>
          </a:solidFill>
          <a:ln w="12700">
            <a:solidFill>
              <a:srgbClr val="1B2E48"/>
            </a:solidFill>
            <a:prstDash val="solid"/>
          </a:ln>
        </p:spPr>
      </p:sp>
      <p:sp>
        <p:nvSpPr>
          <p:cNvPr id="10" name="Shape 7"/>
          <p:cNvSpPr/>
          <p:nvPr/>
        </p:nvSpPr>
        <p:spPr>
          <a:xfrm>
            <a:off x="777240" y="3337560"/>
            <a:ext cx="640080" cy="640080"/>
          </a:xfrm>
          <a:prstGeom prst="ellipse">
            <a:avLst/>
          </a:prstGeom>
          <a:solidFill>
            <a:srgbClr val="FF9F1C"/>
          </a:solidFill>
          <a:ln w="12700">
            <a:solidFill>
              <a:srgbClr val="FF9F1C"/>
            </a:solidFill>
            <a:prstDash val="solid"/>
          </a:ln>
        </p:spPr>
      </p:sp>
      <p:pic>
        <p:nvPicPr>
          <p:cNvPr id="11" name="Image 1" descr="preencoded.png">    </p:cNvPr>
          <p:cNvPicPr>
            <a:picLocks noChangeAspect="1"/>
          </p:cNvPicPr>
          <p:nvPr/>
        </p:nvPicPr>
        <p:blipFill>
          <a:blip r:embed="rId2"/>
          <a:stretch>
            <a:fillRect/>
          </a:stretch>
        </p:blipFill>
        <p:spPr>
          <a:xfrm>
            <a:off x="932688" y="3493008"/>
            <a:ext cx="329184" cy="329184"/>
          </a:xfrm>
          <a:prstGeom prst="rect">
            <a:avLst/>
          </a:prstGeom>
        </p:spPr>
      </p:pic>
      <p:sp>
        <p:nvSpPr>
          <p:cNvPr id="12" name="Text 8"/>
          <p:cNvSpPr txBox="1"/>
          <p:nvPr/>
        </p:nvSpPr>
        <p:spPr>
          <a:xfrm>
            <a:off x="1645920" y="3136392"/>
            <a:ext cx="5029200" cy="365760"/>
          </a:xfrm>
          <a:prstGeom prst="rect">
            <a:avLst/>
          </a:prstGeom>
          <a:noFill/>
          <a:ln/>
        </p:spPr>
        <p:txBody>
          <a:bodyPr wrap="square" lIns="0" tIns="0" rIns="0" bIns="0" rtlCol="0" anchor="ctr"/>
          <a:lstStyle/>
          <a:p>
            <a:pPr indent="0" marL="0">
              <a:buNone/>
            </a:pPr>
            <a:r>
              <a:rPr lang="en-US" sz="1700" b="1" dirty="0">
                <a:solidFill>
                  <a:srgbClr val="F6F1E7"/>
                </a:solidFill>
                <a:latin typeface="Arial" pitchFamily="34" charset="0"/>
                <a:ea typeface="Arial" pitchFamily="34" charset="-122"/>
                <a:cs typeface="Arial" pitchFamily="34" charset="-120"/>
              </a:rPr>
              <a:t>A washing-machine control panel</a:t>
            </a:r>
            <a:endParaRPr lang="en-US" sz="1700" dirty="0"/>
          </a:p>
        </p:txBody>
      </p:sp>
      <p:sp>
        <p:nvSpPr>
          <p:cNvPr id="13" name="Text 9"/>
          <p:cNvSpPr txBox="1"/>
          <p:nvPr/>
        </p:nvSpPr>
        <p:spPr>
          <a:xfrm>
            <a:off x="1645920" y="3520440"/>
            <a:ext cx="5029200" cy="731520"/>
          </a:xfrm>
          <a:prstGeom prst="rect">
            <a:avLst/>
          </a:prstGeom>
          <a:noFill/>
          <a:ln/>
        </p:spPr>
        <p:txBody>
          <a:bodyPr wrap="square" lIns="0" tIns="0" rIns="0" bIns="0" rtlCol="0" anchor="t"/>
          <a:lstStyle/>
          <a:p>
            <a:pPr indent="0" marL="0">
              <a:buNone/>
            </a:pPr>
            <a:r>
              <a:rPr lang="en-US" sz="1350" dirty="0">
                <a:solidFill>
                  <a:srgbClr val="C6D0DD"/>
                </a:solidFill>
                <a:latin typeface="Calibri" pitchFamily="34" charset="0"/>
                <a:ea typeface="Calibri" pitchFamily="34" charset="-122"/>
                <a:cs typeface="Calibri" pitchFamily="34" charset="-120"/>
              </a:rPr>
              <a:t>Read an error code (drain, door lock, water inlet) and get guided, step by step, to the exact part.</a:t>
            </a:r>
            <a:endParaRPr lang="en-US" sz="1350" dirty="0"/>
          </a:p>
        </p:txBody>
      </p:sp>
      <p:sp>
        <p:nvSpPr>
          <p:cNvPr id="14" name="Text 10"/>
          <p:cNvSpPr txBox="1"/>
          <p:nvPr/>
        </p:nvSpPr>
        <p:spPr>
          <a:xfrm>
            <a:off x="548640" y="4572000"/>
            <a:ext cx="2743200" cy="320040"/>
          </a:xfrm>
          <a:prstGeom prst="rect">
            <a:avLst/>
          </a:prstGeom>
          <a:noFill/>
          <a:ln/>
        </p:spPr>
        <p:txBody>
          <a:bodyPr wrap="square" lIns="0" tIns="0" rIns="0" bIns="0" rtlCol="0" anchor="ctr"/>
          <a:lstStyle/>
          <a:p>
            <a:pPr indent="0" marL="0">
              <a:buNone/>
            </a:pPr>
            <a:r>
              <a:rPr lang="en-US" sz="1500" b="1" dirty="0">
                <a:solidFill>
                  <a:srgbClr val="FF9F1C"/>
                </a:solidFill>
                <a:latin typeface="Arial" pitchFamily="34" charset="0"/>
                <a:ea typeface="Arial" pitchFamily="34" charset="-122"/>
                <a:cs typeface="Arial" pitchFamily="34" charset="-120"/>
              </a:rPr>
              <a:t>Next</a:t>
            </a:r>
            <a:endParaRPr lang="en-US" sz="1500" dirty="0"/>
          </a:p>
        </p:txBody>
      </p:sp>
      <p:pic>
        <p:nvPicPr>
          <p:cNvPr id="15" name="Image 2" descr="preencoded.png">    </p:cNvPr>
          <p:cNvPicPr>
            <a:picLocks noChangeAspect="1"/>
          </p:cNvPicPr>
          <p:nvPr/>
        </p:nvPicPr>
        <p:blipFill>
          <a:blip r:embed="rId3"/>
          <a:stretch>
            <a:fillRect/>
          </a:stretch>
        </p:blipFill>
        <p:spPr>
          <a:xfrm>
            <a:off x="548640" y="5029200"/>
            <a:ext cx="329184" cy="329184"/>
          </a:xfrm>
          <a:prstGeom prst="rect">
            <a:avLst/>
          </a:prstGeom>
        </p:spPr>
      </p:pic>
      <p:sp>
        <p:nvSpPr>
          <p:cNvPr id="16" name="Text 11"/>
          <p:cNvSpPr txBox="1"/>
          <p:nvPr/>
        </p:nvSpPr>
        <p:spPr>
          <a:xfrm>
            <a:off x="548640" y="5440680"/>
            <a:ext cx="1463040" cy="548640"/>
          </a:xfrm>
          <a:prstGeom prst="rect">
            <a:avLst/>
          </a:prstGeom>
          <a:noFill/>
          <a:ln/>
        </p:spPr>
        <p:txBody>
          <a:bodyPr wrap="square" lIns="0" tIns="0" rIns="0" bIns="0" rtlCol="0" anchor="t"/>
          <a:lstStyle/>
          <a:p>
            <a:pPr indent="0" marL="0">
              <a:buNone/>
            </a:pPr>
            <a:r>
              <a:rPr lang="en-US" sz="1250" dirty="0">
                <a:solidFill>
                  <a:srgbClr val="F6F1E7"/>
                </a:solidFill>
                <a:latin typeface="Calibri" pitchFamily="34" charset="0"/>
                <a:ea typeface="Calibri" pitchFamily="34" charset="-122"/>
                <a:cs typeface="Calibri" pitchFamily="34" charset="-120"/>
              </a:rPr>
              <a:t>Telugu and Hindi</a:t>
            </a:r>
            <a:endParaRPr lang="en-US" sz="1250" dirty="0"/>
          </a:p>
        </p:txBody>
      </p:sp>
      <p:pic>
        <p:nvPicPr>
          <p:cNvPr id="17" name="Image 3" descr="preencoded.png">    </p:cNvPr>
          <p:cNvPicPr>
            <a:picLocks noChangeAspect="1"/>
          </p:cNvPicPr>
          <p:nvPr/>
        </p:nvPicPr>
        <p:blipFill>
          <a:blip r:embed="rId4"/>
          <a:stretch>
            <a:fillRect/>
          </a:stretch>
        </p:blipFill>
        <p:spPr>
          <a:xfrm>
            <a:off x="2148840" y="5029200"/>
            <a:ext cx="329184" cy="329184"/>
          </a:xfrm>
          <a:prstGeom prst="rect">
            <a:avLst/>
          </a:prstGeom>
        </p:spPr>
      </p:pic>
      <p:sp>
        <p:nvSpPr>
          <p:cNvPr id="18" name="Text 12"/>
          <p:cNvSpPr txBox="1"/>
          <p:nvPr/>
        </p:nvSpPr>
        <p:spPr>
          <a:xfrm>
            <a:off x="2148840" y="5440680"/>
            <a:ext cx="1463040" cy="548640"/>
          </a:xfrm>
          <a:prstGeom prst="rect">
            <a:avLst/>
          </a:prstGeom>
          <a:noFill/>
          <a:ln/>
        </p:spPr>
        <p:txBody>
          <a:bodyPr wrap="square" lIns="0" tIns="0" rIns="0" bIns="0" rtlCol="0" anchor="t"/>
          <a:lstStyle/>
          <a:p>
            <a:pPr indent="0" marL="0">
              <a:buNone/>
            </a:pPr>
            <a:r>
              <a:rPr lang="en-US" sz="1250" dirty="0">
                <a:solidFill>
                  <a:srgbClr val="F6F1E7"/>
                </a:solidFill>
                <a:latin typeface="Calibri" pitchFamily="34" charset="0"/>
                <a:ea typeface="Calibri" pitchFamily="34" charset="-122"/>
                <a:cs typeface="Calibri" pitchFamily="34" charset="-120"/>
              </a:rPr>
              <a:t>“Hey Fixy” wake word</a:t>
            </a:r>
            <a:endParaRPr lang="en-US" sz="1250" dirty="0"/>
          </a:p>
        </p:txBody>
      </p:sp>
      <p:pic>
        <p:nvPicPr>
          <p:cNvPr id="19" name="Image 4" descr="preencoded.png">    </p:cNvPr>
          <p:cNvPicPr>
            <a:picLocks noChangeAspect="1"/>
          </p:cNvPicPr>
          <p:nvPr/>
        </p:nvPicPr>
        <p:blipFill>
          <a:blip r:embed="rId5"/>
          <a:stretch>
            <a:fillRect/>
          </a:stretch>
        </p:blipFill>
        <p:spPr>
          <a:xfrm>
            <a:off x="3749040" y="5029200"/>
            <a:ext cx="329184" cy="329184"/>
          </a:xfrm>
          <a:prstGeom prst="rect">
            <a:avLst/>
          </a:prstGeom>
        </p:spPr>
      </p:pic>
      <p:sp>
        <p:nvSpPr>
          <p:cNvPr id="20" name="Text 13"/>
          <p:cNvSpPr txBox="1"/>
          <p:nvPr/>
        </p:nvSpPr>
        <p:spPr>
          <a:xfrm>
            <a:off x="3749040" y="5440680"/>
            <a:ext cx="1463040" cy="548640"/>
          </a:xfrm>
          <a:prstGeom prst="rect">
            <a:avLst/>
          </a:prstGeom>
          <a:noFill/>
          <a:ln/>
        </p:spPr>
        <p:txBody>
          <a:bodyPr wrap="square" lIns="0" tIns="0" rIns="0" bIns="0" rtlCol="0" anchor="t"/>
          <a:lstStyle/>
          <a:p>
            <a:pPr indent="0" marL="0">
              <a:buNone/>
            </a:pPr>
            <a:r>
              <a:rPr lang="en-US" sz="1250" dirty="0">
                <a:solidFill>
                  <a:srgbClr val="F6F1E7"/>
                </a:solidFill>
                <a:latin typeface="Calibri" pitchFamily="34" charset="0"/>
                <a:ea typeface="Calibri" pitchFamily="34" charset="-122"/>
                <a:cs typeface="Calibri" pitchFamily="34" charset="-120"/>
              </a:rPr>
              <a:t>Fridges, purifiers, inverters</a:t>
            </a:r>
            <a:endParaRPr lang="en-US" sz="1250" dirty="0"/>
          </a:p>
        </p:txBody>
      </p:sp>
      <p:pic>
        <p:nvPicPr>
          <p:cNvPr id="21" name="Image 5" descr="preencoded.png">    </p:cNvPr>
          <p:cNvPicPr>
            <a:picLocks noChangeAspect="1"/>
          </p:cNvPicPr>
          <p:nvPr/>
        </p:nvPicPr>
        <p:blipFill>
          <a:blip r:embed="rId6"/>
          <a:stretch>
            <a:fillRect/>
          </a:stretch>
        </p:blipFill>
        <p:spPr>
          <a:xfrm>
            <a:off x="5349240" y="5029200"/>
            <a:ext cx="329184" cy="329184"/>
          </a:xfrm>
          <a:prstGeom prst="rect">
            <a:avLst/>
          </a:prstGeom>
        </p:spPr>
      </p:pic>
      <p:sp>
        <p:nvSpPr>
          <p:cNvPr id="22" name="Text 14"/>
          <p:cNvSpPr txBox="1"/>
          <p:nvPr/>
        </p:nvSpPr>
        <p:spPr>
          <a:xfrm>
            <a:off x="5349240" y="5440680"/>
            <a:ext cx="1463040" cy="548640"/>
          </a:xfrm>
          <a:prstGeom prst="rect">
            <a:avLst/>
          </a:prstGeom>
          <a:noFill/>
          <a:ln/>
        </p:spPr>
        <p:txBody>
          <a:bodyPr wrap="square" lIns="0" tIns="0" rIns="0" bIns="0" rtlCol="0" anchor="t"/>
          <a:lstStyle/>
          <a:p>
            <a:pPr indent="0" marL="0">
              <a:buNone/>
            </a:pPr>
            <a:r>
              <a:rPr lang="en-US" sz="1250" dirty="0">
                <a:solidFill>
                  <a:srgbClr val="F6F1E7"/>
                </a:solidFill>
                <a:latin typeface="Calibri" pitchFamily="34" charset="0"/>
                <a:ea typeface="Calibri" pitchFamily="34" charset="-122"/>
                <a:cs typeface="Calibri" pitchFamily="34" charset="-120"/>
              </a:rPr>
              <a:t>Field technicians</a:t>
            </a:r>
            <a:endParaRPr lang="en-US" sz="1250" dirty="0"/>
          </a:p>
        </p:txBody>
      </p:sp>
      <p:pic>
        <p:nvPicPr>
          <p:cNvPr id="23" name="Image 6" descr="/tmp/claude-1000/-home-shiva-ajay-3D-IQOO-Hackathon/5b3f47cb-8e93-474d-997b-1b20d1cf681e/scratchpad/deck/assets/fixy-happy.png">    </p:cNvPr>
          <p:cNvPicPr>
            <a:picLocks noChangeAspect="1"/>
          </p:cNvPicPr>
          <p:nvPr/>
        </p:nvPicPr>
        <p:blipFill>
          <a:blip r:embed="rId7"/>
          <a:stretch>
            <a:fillRect/>
          </a:stretch>
        </p:blipFill>
        <p:spPr>
          <a:xfrm>
            <a:off x="8229600" y="1600200"/>
            <a:ext cx="2651760" cy="2651760"/>
          </a:xfrm>
          <a:prstGeom prst="rect">
            <a:avLst/>
          </a:prstGeom>
        </p:spPr>
      </p:pic>
      <p:sp>
        <p:nvSpPr>
          <p:cNvPr id="24" name="Shape 15"/>
          <p:cNvSpPr/>
          <p:nvPr/>
        </p:nvSpPr>
        <p:spPr>
          <a:xfrm>
            <a:off x="7818120" y="1463040"/>
            <a:ext cx="411480" cy="0"/>
          </a:xfrm>
          <a:prstGeom prst="line">
            <a:avLst/>
          </a:prstGeom>
          <a:noFill/>
          <a:ln w="44450">
            <a:solidFill>
              <a:srgbClr val="FF9F1C"/>
            </a:solidFill>
            <a:prstDash val="solid"/>
          </a:ln>
        </p:spPr>
      </p:sp>
      <p:sp>
        <p:nvSpPr>
          <p:cNvPr id="25" name="Shape 16"/>
          <p:cNvSpPr/>
          <p:nvPr/>
        </p:nvSpPr>
        <p:spPr>
          <a:xfrm>
            <a:off x="7818120" y="1463040"/>
            <a:ext cx="0" cy="411480"/>
          </a:xfrm>
          <a:prstGeom prst="line">
            <a:avLst/>
          </a:prstGeom>
          <a:noFill/>
          <a:ln w="44450">
            <a:solidFill>
              <a:srgbClr val="FF9F1C"/>
            </a:solidFill>
            <a:prstDash val="solid"/>
          </a:ln>
        </p:spPr>
      </p:sp>
      <p:sp>
        <p:nvSpPr>
          <p:cNvPr id="26" name="Shape 17"/>
          <p:cNvSpPr/>
          <p:nvPr/>
        </p:nvSpPr>
        <p:spPr>
          <a:xfrm>
            <a:off x="10881360" y="1463040"/>
            <a:ext cx="411480" cy="0"/>
          </a:xfrm>
          <a:prstGeom prst="line">
            <a:avLst/>
          </a:prstGeom>
          <a:noFill/>
          <a:ln w="44450">
            <a:solidFill>
              <a:srgbClr val="FF9F1C"/>
            </a:solidFill>
            <a:prstDash val="solid"/>
          </a:ln>
        </p:spPr>
      </p:sp>
      <p:sp>
        <p:nvSpPr>
          <p:cNvPr id="27" name="Shape 18"/>
          <p:cNvSpPr/>
          <p:nvPr/>
        </p:nvSpPr>
        <p:spPr>
          <a:xfrm>
            <a:off x="11292840" y="1463040"/>
            <a:ext cx="0" cy="411480"/>
          </a:xfrm>
          <a:prstGeom prst="line">
            <a:avLst/>
          </a:prstGeom>
          <a:noFill/>
          <a:ln w="44450">
            <a:solidFill>
              <a:srgbClr val="FF9F1C"/>
            </a:solidFill>
            <a:prstDash val="solid"/>
          </a:ln>
        </p:spPr>
      </p:sp>
      <p:sp>
        <p:nvSpPr>
          <p:cNvPr id="28" name="Shape 19"/>
          <p:cNvSpPr/>
          <p:nvPr/>
        </p:nvSpPr>
        <p:spPr>
          <a:xfrm>
            <a:off x="7818120" y="4389120"/>
            <a:ext cx="411480" cy="0"/>
          </a:xfrm>
          <a:prstGeom prst="line">
            <a:avLst/>
          </a:prstGeom>
          <a:noFill/>
          <a:ln w="44450">
            <a:solidFill>
              <a:srgbClr val="FF9F1C"/>
            </a:solidFill>
            <a:prstDash val="solid"/>
          </a:ln>
        </p:spPr>
      </p:sp>
      <p:sp>
        <p:nvSpPr>
          <p:cNvPr id="29" name="Shape 20"/>
          <p:cNvSpPr/>
          <p:nvPr/>
        </p:nvSpPr>
        <p:spPr>
          <a:xfrm>
            <a:off x="7818120" y="3977640"/>
            <a:ext cx="0" cy="411480"/>
          </a:xfrm>
          <a:prstGeom prst="line">
            <a:avLst/>
          </a:prstGeom>
          <a:noFill/>
          <a:ln w="44450">
            <a:solidFill>
              <a:srgbClr val="FF9F1C"/>
            </a:solidFill>
            <a:prstDash val="solid"/>
          </a:ln>
        </p:spPr>
      </p:sp>
      <p:sp>
        <p:nvSpPr>
          <p:cNvPr id="30" name="Shape 21"/>
          <p:cNvSpPr/>
          <p:nvPr/>
        </p:nvSpPr>
        <p:spPr>
          <a:xfrm>
            <a:off x="10881360" y="4389120"/>
            <a:ext cx="411480" cy="0"/>
          </a:xfrm>
          <a:prstGeom prst="line">
            <a:avLst/>
          </a:prstGeom>
          <a:noFill/>
          <a:ln w="44450">
            <a:solidFill>
              <a:srgbClr val="FF9F1C"/>
            </a:solidFill>
            <a:prstDash val="solid"/>
          </a:ln>
        </p:spPr>
      </p:sp>
      <p:sp>
        <p:nvSpPr>
          <p:cNvPr id="31" name="Shape 22"/>
          <p:cNvSpPr/>
          <p:nvPr/>
        </p:nvSpPr>
        <p:spPr>
          <a:xfrm>
            <a:off x="11292840" y="3977640"/>
            <a:ext cx="0" cy="411480"/>
          </a:xfrm>
          <a:prstGeom prst="line">
            <a:avLst/>
          </a:prstGeom>
          <a:noFill/>
          <a:ln w="44450">
            <a:solidFill>
              <a:srgbClr val="FF9F1C"/>
            </a:solidFill>
            <a:prstDash val="solid"/>
          </a:ln>
        </p:spPr>
      </p:sp>
      <p:sp>
        <p:nvSpPr>
          <p:cNvPr id="32" name="Text 23"/>
          <p:cNvSpPr txBox="1"/>
          <p:nvPr/>
        </p:nvSpPr>
        <p:spPr>
          <a:xfrm>
            <a:off x="7315200" y="4572000"/>
            <a:ext cx="4480560" cy="640080"/>
          </a:xfrm>
          <a:prstGeom prst="rect">
            <a:avLst/>
          </a:prstGeom>
          <a:noFill/>
          <a:ln/>
        </p:spPr>
        <p:txBody>
          <a:bodyPr wrap="square" lIns="0" tIns="0" rIns="0" bIns="0" rtlCol="0" anchor="ctr"/>
          <a:lstStyle/>
          <a:p>
            <a:pPr algn="ctr" indent="0" marL="0">
              <a:buNone/>
            </a:pPr>
            <a:r>
              <a:rPr lang="en-US" sz="3400" b="1" dirty="0">
                <a:solidFill>
                  <a:srgbClr val="FF9F1C"/>
                </a:solidFill>
                <a:latin typeface="Arial" pitchFamily="34" charset="0"/>
                <a:ea typeface="Arial" pitchFamily="34" charset="-122"/>
                <a:cs typeface="Arial" pitchFamily="34" charset="-120"/>
              </a:rPr>
              <a:t>Point. Ask. Fix.</a:t>
            </a:r>
            <a:endParaRPr lang="en-US" sz="3400" dirty="0"/>
          </a:p>
        </p:txBody>
      </p:sp>
      <p:sp>
        <p:nvSpPr>
          <p:cNvPr id="33" name="Text 24"/>
          <p:cNvSpPr txBox="1"/>
          <p:nvPr/>
        </p:nvSpPr>
        <p:spPr>
          <a:xfrm>
            <a:off x="7315200" y="5212080"/>
            <a:ext cx="4480560" cy="411480"/>
          </a:xfrm>
          <a:prstGeom prst="rect">
            <a:avLst/>
          </a:prstGeom>
          <a:noFill/>
          <a:ln/>
        </p:spPr>
        <p:txBody>
          <a:bodyPr wrap="square" lIns="0" tIns="0" rIns="0" bIns="0" rtlCol="0" anchor="ctr"/>
          <a:lstStyle/>
          <a:p>
            <a:pPr algn="ctr" indent="0" marL="0">
              <a:buNone/>
            </a:pPr>
            <a:r>
              <a:rPr lang="en-US" sz="1600" dirty="0">
                <a:solidFill>
                  <a:srgbClr val="F6F1E7"/>
                </a:solidFill>
                <a:latin typeface="Calibri" pitchFamily="34" charset="0"/>
                <a:ea typeface="Calibri" pitchFamily="34" charset="-122"/>
                <a:cs typeface="Calibri" pitchFamily="34" charset="-120"/>
              </a:rPr>
              <a:t>No internet. No manual. No waiting.</a:t>
            </a:r>
            <a:endParaRPr lang="en-US" sz="1600" dirty="0"/>
          </a:p>
        </p:txBody>
      </p:sp>
      <p:sp>
        <p:nvSpPr>
          <p:cNvPr id="34" name="Text 25"/>
          <p:cNvSpPr txBox="1"/>
          <p:nvPr/>
        </p:nvSpPr>
        <p:spPr>
          <a:xfrm>
            <a:off x="7315200" y="5715000"/>
            <a:ext cx="4480560" cy="411480"/>
          </a:xfrm>
          <a:prstGeom prst="rect">
            <a:avLst/>
          </a:prstGeom>
          <a:noFill/>
          <a:ln/>
        </p:spPr>
        <p:txBody>
          <a:bodyPr wrap="square" lIns="0" tIns="0" rIns="0" bIns="0" rtlCol="0" anchor="ctr"/>
          <a:lstStyle/>
          <a:p>
            <a:pPr algn="ctr" indent="0" marL="0">
              <a:buNone/>
            </a:pPr>
            <a:r>
              <a:rPr lang="en-US" sz="1500" i="1" dirty="0">
                <a:solidFill>
                  <a:srgbClr val="8FA0B6"/>
                </a:solidFill>
                <a:latin typeface="Calibri" pitchFamily="34" charset="0"/>
                <a:ea typeface="Calibri" pitchFamily="34" charset="-122"/>
                <a:cs typeface="Calibri" pitchFamily="34" charset="-120"/>
              </a:rPr>
              <a:t>Thank you</a:t>
            </a:r>
            <a:endParaRPr lang="en-US" sz="1500" dirty="0"/>
          </a:p>
        </p:txBody>
      </p:sp>
      <p:pic>
        <p:nvPicPr>
          <p:cNvPr id="35" name="Image 7" descr="/tmp/claude-1000/-home-shiva-ajay-3D-IQOO-Hackathon/5b3f47cb-8e93-474d-997b-1b20d1cf681e/scratchpad/deck/assets/fixlens-logo-dark.png">    </p:cNvPr>
          <p:cNvPicPr>
            <a:picLocks noChangeAspect="1"/>
          </p:cNvPicPr>
          <p:nvPr/>
        </p:nvPicPr>
        <p:blipFill>
          <a:blip r:embed="rId8"/>
          <a:stretch>
            <a:fillRect/>
          </a:stretch>
        </p:blipFill>
        <p:spPr>
          <a:xfrm>
            <a:off x="10378440" y="6355080"/>
            <a:ext cx="1234440" cy="365760"/>
          </a:xfrm>
          <a:prstGeom prst="rect">
            <a:avLst/>
          </a:prstGeom>
        </p:spPr>
      </p:pic>
      <p:sp>
        <p:nvSpPr>
          <p:cNvPr id="36" name="Text 26"/>
          <p:cNvSpPr txBox="1"/>
          <p:nvPr/>
        </p:nvSpPr>
        <p:spPr>
          <a:xfrm>
            <a:off x="548640" y="6355080"/>
            <a:ext cx="457200" cy="365760"/>
          </a:xfrm>
          <a:prstGeom prst="rect">
            <a:avLst/>
          </a:prstGeom>
          <a:noFill/>
          <a:ln/>
        </p:spPr>
        <p:txBody>
          <a:bodyPr wrap="square" lIns="0" tIns="0" rIns="0" bIns="0" rtlCol="0" anchor="ctr"/>
          <a:lstStyle/>
          <a:p>
            <a:pPr indent="0" marL="0">
              <a:buNone/>
            </a:pPr>
            <a:r>
              <a:rPr lang="en-US" sz="1100" dirty="0">
                <a:solidFill>
                  <a:srgbClr val="8FA0B6"/>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FixLens: offline AI repair assistant</dc:title>
  <dc:subject>PptxGenJS Presentation</dc:subject>
  <dc:creator>PptxGenJS</dc:creator>
  <cp:lastModifiedBy>PptxGenJS</cp:lastModifiedBy>
  <cp:revision>1</cp:revision>
  <dcterms:created xsi:type="dcterms:W3CDTF">2026-09-26T12:52:06Z</dcterms:created>
  <dcterms:modified xsi:type="dcterms:W3CDTF">2026-09-26T12:52:06Z</dcterms:modified>
</cp:coreProperties>
</file>